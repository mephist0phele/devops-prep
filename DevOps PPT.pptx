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71" r:id="rId2"/>
    <p:sldId id="257" r:id="rId3"/>
    <p:sldId id="256" r:id="rId4"/>
    <p:sldId id="259" r:id="rId5"/>
    <p:sldId id="258" r:id="rId6"/>
    <p:sldId id="266" r:id="rId7"/>
    <p:sldId id="265" r:id="rId8"/>
    <p:sldId id="260" r:id="rId9"/>
    <p:sldId id="261" r:id="rId10"/>
    <p:sldId id="267" r:id="rId11"/>
    <p:sldId id="263" r:id="rId12"/>
    <p:sldId id="269" r:id="rId13"/>
    <p:sldId id="268" r:id="rId14"/>
    <p:sldId id="262" r:id="rId15"/>
    <p:sldId id="272" r:id="rId16"/>
    <p:sldId id="264" r:id="rId17"/>
    <p:sldId id="270" r:id="rId18"/>
    <p:sldId id="274" r:id="rId19"/>
    <p:sldId id="273" r:id="rId20"/>
    <p:sldId id="275" r:id="rId21"/>
    <p:sldId id="276" r:id="rId22"/>
    <p:sldId id="277" r:id="rId23"/>
    <p:sldId id="280" r:id="rId24"/>
    <p:sldId id="281" r:id="rId25"/>
    <p:sldId id="282" r:id="rId26"/>
    <p:sldId id="278" r:id="rId27"/>
    <p:sldId id="279" r:id="rId28"/>
    <p:sldId id="284" r:id="rId29"/>
    <p:sldId id="283" r:id="rId30"/>
    <p:sldId id="285" r:id="rId31"/>
    <p:sldId id="286" r:id="rId32"/>
    <p:sldId id="288" r:id="rId33"/>
    <p:sldId id="289" r:id="rId34"/>
    <p:sldId id="287"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AEC7"/>
    <a:srgbClr val="FEEC98"/>
    <a:srgbClr val="B1F6BA"/>
    <a:srgbClr val="B4F5BE"/>
    <a:srgbClr val="156082"/>
    <a:srgbClr val="B8FABF"/>
    <a:srgbClr val="AFF4B9"/>
    <a:srgbClr val="B4F3B9"/>
    <a:srgbClr val="877A31"/>
    <a:srgbClr val="FFFCB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630D239-F646-4EBA-8F62-FED7FCE3D0FE}" v="21" dt="2026-05-02T12:20:08.4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77"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02-05-2026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32190605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02-05-2026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2500603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02-05-2026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4187699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A1A61A2-44F5-4304-B5D2-BA2533B9D5A3}" type="datetimeFigureOut">
              <a:rPr lang="en-IN" smtClean="0"/>
              <a:t>02-05-2026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41429398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A1A61A2-44F5-4304-B5D2-BA2533B9D5A3}" type="datetimeFigureOut">
              <a:rPr lang="en-IN" smtClean="0"/>
              <a:t>02-05-2026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4545478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A1A61A2-44F5-4304-B5D2-BA2533B9D5A3}" type="datetimeFigureOut">
              <a:rPr lang="en-IN" smtClean="0"/>
              <a:t>02-05-2026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29740573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A1A61A2-44F5-4304-B5D2-BA2533B9D5A3}" type="datetimeFigureOut">
              <a:rPr lang="en-IN" smtClean="0"/>
              <a:t>02-05-2026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9666031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A1A61A2-44F5-4304-B5D2-BA2533B9D5A3}" type="datetimeFigureOut">
              <a:rPr lang="en-IN" smtClean="0"/>
              <a:t>02-05-2026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327159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A1A61A2-44F5-4304-B5D2-BA2533B9D5A3}" type="datetimeFigureOut">
              <a:rPr lang="en-IN" smtClean="0"/>
              <a:t>02-05-2026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29807383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02-05-2026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6316106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02-05-2026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259483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02-05-2026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7472617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02-05-2026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4463736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02-05-2026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4403451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02-05-2026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8258486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02-05-2026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9184823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0A1A61A2-44F5-4304-B5D2-BA2533B9D5A3}" type="datetimeFigureOut">
              <a:rPr lang="en-IN" smtClean="0"/>
              <a:t>02-05-2026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C4B6C60-5B0C-439A-B135-FCE37F799B6C}" type="slidenum">
              <a:rPr lang="en-IN" smtClean="0"/>
              <a:t>‹#›</a:t>
            </a:fld>
            <a:endParaRPr lang="en-IN"/>
          </a:p>
        </p:txBody>
      </p:sp>
    </p:spTree>
    <p:extLst>
      <p:ext uri="{BB962C8B-B14F-4D97-AF65-F5344CB8AC3E}">
        <p14:creationId xmlns:p14="http://schemas.microsoft.com/office/powerpoint/2010/main" val="44796397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developer.hashicorp.com/terraform/language/resources" TargetMode="External"/><Relationship Id="rId2" Type="http://schemas.openxmlformats.org/officeDocument/2006/relationships/hyperlink" Target="https://developer.hashicorp.com/terraform/language/data-sources"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FC2B7-D93A-6D6B-E561-CF55F4DF893F}"/>
              </a:ext>
            </a:extLst>
          </p:cNvPr>
          <p:cNvSpPr>
            <a:spLocks noGrp="1"/>
          </p:cNvSpPr>
          <p:nvPr>
            <p:ph type="title"/>
          </p:nvPr>
        </p:nvSpPr>
        <p:spPr>
          <a:xfrm>
            <a:off x="1061382" y="2465832"/>
            <a:ext cx="8596668" cy="1320800"/>
          </a:xfrm>
        </p:spPr>
        <p:txBody>
          <a:bodyPr/>
          <a:lstStyle/>
          <a:p>
            <a:r>
              <a:rPr lang="en-IN" dirty="0"/>
              <a:t>                     DevOps Prep</a:t>
            </a:r>
          </a:p>
        </p:txBody>
      </p:sp>
    </p:spTree>
    <p:extLst>
      <p:ext uri="{BB962C8B-B14F-4D97-AF65-F5344CB8AC3E}">
        <p14:creationId xmlns:p14="http://schemas.microsoft.com/office/powerpoint/2010/main" val="17513368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173EBA9-A368-EC46-B430-211C229B1CF5}"/>
              </a:ext>
            </a:extLst>
          </p:cNvPr>
          <p:cNvSpPr txBox="1"/>
          <p:nvPr/>
        </p:nvSpPr>
        <p:spPr>
          <a:xfrm>
            <a:off x="1200978" y="296187"/>
            <a:ext cx="9790044" cy="7386638"/>
          </a:xfrm>
          <a:prstGeom prst="rect">
            <a:avLst/>
          </a:prstGeom>
          <a:noFill/>
        </p:spPr>
        <p:txBody>
          <a:bodyPr wrap="square">
            <a:spAutoFit/>
          </a:bodyPr>
          <a:lstStyle/>
          <a:p>
            <a:r>
              <a:rPr lang="en-IN" sz="2400" b="1" dirty="0"/>
              <a:t>Content : </a:t>
            </a:r>
            <a:br>
              <a:rPr lang="en-IN" dirty="0"/>
            </a:br>
            <a:br>
              <a:rPr lang="en-IN" dirty="0"/>
            </a:br>
            <a:r>
              <a:rPr lang="en-IN" dirty="0"/>
              <a:t>1. Git/GitHub : Version Control</a:t>
            </a:r>
          </a:p>
          <a:p>
            <a:endParaRPr lang="en-IN" dirty="0"/>
          </a:p>
          <a:p>
            <a:r>
              <a:rPr lang="en-IN" dirty="0"/>
              <a:t>2. Application Package : .NET and Java : Code</a:t>
            </a:r>
          </a:p>
          <a:p>
            <a:endParaRPr lang="en-IN" dirty="0"/>
          </a:p>
          <a:p>
            <a:r>
              <a:rPr lang="en-IN" dirty="0"/>
              <a:t>3. CICD : Continues Integration  and Continues Deployment (Jenkins, Azure DevOps)</a:t>
            </a:r>
            <a:br>
              <a:rPr lang="en-IN" dirty="0"/>
            </a:br>
            <a:br>
              <a:rPr lang="en-IN" dirty="0"/>
            </a:br>
            <a:r>
              <a:rPr lang="en-IN" dirty="0"/>
              <a:t>4. SonarQube</a:t>
            </a:r>
            <a:br>
              <a:rPr lang="en-IN" dirty="0"/>
            </a:br>
            <a:br>
              <a:rPr lang="en-IN" dirty="0"/>
            </a:br>
            <a:r>
              <a:rPr lang="en-IN" dirty="0"/>
              <a:t>5. Docker</a:t>
            </a:r>
            <a:br>
              <a:rPr lang="en-IN" dirty="0"/>
            </a:br>
            <a:br>
              <a:rPr lang="en-IN" dirty="0"/>
            </a:br>
            <a:r>
              <a:rPr lang="en-IN" dirty="0"/>
              <a:t>6. Infrastructure as Code : Terraform</a:t>
            </a:r>
            <a:br>
              <a:rPr lang="en-IN" dirty="0"/>
            </a:br>
            <a:br>
              <a:rPr lang="en-IN" dirty="0"/>
            </a:br>
            <a:r>
              <a:rPr lang="en-IN" dirty="0"/>
              <a:t>7. Kubernetes</a:t>
            </a:r>
          </a:p>
          <a:p>
            <a:endParaRPr lang="en-IN" dirty="0"/>
          </a:p>
          <a:p>
            <a:r>
              <a:rPr lang="en-IN" dirty="0"/>
              <a:t>8. Azure , AWS (Server, Coud VPC , EC2, S3 , VM , AKS , App Services , EKS , IAM)</a:t>
            </a:r>
          </a:p>
          <a:p>
            <a:endParaRPr lang="en-IN" dirty="0"/>
          </a:p>
          <a:p>
            <a:r>
              <a:rPr lang="en-IN" dirty="0"/>
              <a:t>9. End to End Application Deployment on AKS and EKS</a:t>
            </a:r>
            <a:br>
              <a:rPr lang="en-IN" dirty="0"/>
            </a:br>
            <a:br>
              <a:rPr lang="en-IN" dirty="0"/>
            </a:br>
            <a:r>
              <a:rPr lang="en-IN" dirty="0"/>
              <a:t>10. Python</a:t>
            </a:r>
            <a:br>
              <a:rPr lang="en-IN" dirty="0"/>
            </a:br>
            <a:br>
              <a:rPr lang="en-IN" dirty="0"/>
            </a:br>
            <a:r>
              <a:rPr lang="en-IN" dirty="0"/>
              <a:t>11. Linux </a:t>
            </a:r>
          </a:p>
          <a:p>
            <a:br>
              <a:rPr lang="en-IN" dirty="0"/>
            </a:br>
            <a:endParaRPr lang="en-IN" dirty="0"/>
          </a:p>
        </p:txBody>
      </p:sp>
    </p:spTree>
    <p:extLst>
      <p:ext uri="{BB962C8B-B14F-4D97-AF65-F5344CB8AC3E}">
        <p14:creationId xmlns:p14="http://schemas.microsoft.com/office/powerpoint/2010/main" val="38383909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78BB18-D508-330F-841F-85BFB8FE2ABB}"/>
              </a:ext>
            </a:extLst>
          </p:cNvPr>
          <p:cNvPicPr>
            <a:picLocks noChangeAspect="1"/>
          </p:cNvPicPr>
          <p:nvPr/>
        </p:nvPicPr>
        <p:blipFill>
          <a:blip r:embed="rId2"/>
          <a:stretch>
            <a:fillRect/>
          </a:stretch>
        </p:blipFill>
        <p:spPr>
          <a:xfrm>
            <a:off x="467933" y="634990"/>
            <a:ext cx="10992679" cy="5532989"/>
          </a:xfrm>
          <a:prstGeom prst="rect">
            <a:avLst/>
          </a:prstGeom>
          <a:ln>
            <a:solidFill>
              <a:srgbClr val="B1F6BA"/>
            </a:solidFill>
          </a:ln>
        </p:spPr>
      </p:pic>
      <p:sp>
        <p:nvSpPr>
          <p:cNvPr id="7" name="Rectangle: Rounded Corners 6">
            <a:extLst>
              <a:ext uri="{FF2B5EF4-FFF2-40B4-BE49-F238E27FC236}">
                <a16:creationId xmlns:a16="http://schemas.microsoft.com/office/drawing/2014/main" id="{EAE6E354-D93F-FEFE-8969-83024D142637}"/>
              </a:ext>
            </a:extLst>
          </p:cNvPr>
          <p:cNvSpPr/>
          <p:nvPr/>
        </p:nvSpPr>
        <p:spPr>
          <a:xfrm>
            <a:off x="4721087" y="2017644"/>
            <a:ext cx="3200399" cy="427383"/>
          </a:xfrm>
          <a:prstGeom prst="roundRect">
            <a:avLst/>
          </a:prstGeom>
          <a:solidFill>
            <a:srgbClr val="FEEC9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Container</a:t>
            </a:r>
            <a:r>
              <a:rPr lang="en-GB" dirty="0">
                <a:solidFill>
                  <a:schemeClr val="tx1"/>
                </a:solidFill>
                <a:highlight>
                  <a:srgbClr val="FFFF00"/>
                </a:highlight>
              </a:rPr>
              <a:t> </a:t>
            </a:r>
            <a:r>
              <a:rPr lang="en-GB" dirty="0">
                <a:solidFill>
                  <a:schemeClr val="tx1"/>
                </a:solidFill>
              </a:rPr>
              <a:t>Registry</a:t>
            </a:r>
            <a:r>
              <a:rPr lang="en-GB" dirty="0">
                <a:solidFill>
                  <a:schemeClr val="tx1"/>
                </a:solidFill>
                <a:highlight>
                  <a:srgbClr val="FFFF00"/>
                </a:highlight>
              </a:rPr>
              <a:t> </a:t>
            </a:r>
            <a:r>
              <a:rPr lang="en-GB" dirty="0">
                <a:solidFill>
                  <a:schemeClr val="tx1"/>
                </a:solidFill>
                <a:highlight>
                  <a:srgbClr val="FEEC98"/>
                </a:highlight>
              </a:rPr>
              <a:t>ACR</a:t>
            </a:r>
            <a:r>
              <a:rPr lang="en-GB" dirty="0">
                <a:solidFill>
                  <a:schemeClr val="tx1"/>
                </a:solidFill>
                <a:highlight>
                  <a:srgbClr val="FFFF00"/>
                </a:highlight>
              </a:rPr>
              <a:t> </a:t>
            </a:r>
            <a:endParaRPr lang="en-IN" dirty="0">
              <a:solidFill>
                <a:schemeClr val="tx1"/>
              </a:solidFill>
              <a:highlight>
                <a:srgbClr val="FFFF00"/>
              </a:highlight>
            </a:endParaRPr>
          </a:p>
        </p:txBody>
      </p:sp>
      <p:sp>
        <p:nvSpPr>
          <p:cNvPr id="2" name="Rectangle 1">
            <a:extLst>
              <a:ext uri="{FF2B5EF4-FFF2-40B4-BE49-F238E27FC236}">
                <a16:creationId xmlns:a16="http://schemas.microsoft.com/office/drawing/2014/main" id="{71ACA371-0333-115B-2862-4CAD68851C53}"/>
              </a:ext>
            </a:extLst>
          </p:cNvPr>
          <p:cNvSpPr/>
          <p:nvPr/>
        </p:nvSpPr>
        <p:spPr>
          <a:xfrm>
            <a:off x="630936" y="1920240"/>
            <a:ext cx="2505456" cy="3831336"/>
          </a:xfrm>
          <a:prstGeom prst="rect">
            <a:avLst/>
          </a:prstGeom>
          <a:noFill/>
          <a:ln w="476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highlight>
                <a:srgbClr val="000000"/>
              </a:highlight>
            </a:endParaRPr>
          </a:p>
        </p:txBody>
      </p:sp>
      <p:cxnSp>
        <p:nvCxnSpPr>
          <p:cNvPr id="4" name="Connector: Elbow 3">
            <a:extLst>
              <a:ext uri="{FF2B5EF4-FFF2-40B4-BE49-F238E27FC236}">
                <a16:creationId xmlns:a16="http://schemas.microsoft.com/office/drawing/2014/main" id="{0993DDF7-EEB3-14ED-E285-478A2DA8AF42}"/>
              </a:ext>
            </a:extLst>
          </p:cNvPr>
          <p:cNvCxnSpPr/>
          <p:nvPr/>
        </p:nvCxnSpPr>
        <p:spPr>
          <a:xfrm rot="16200000" flipH="1">
            <a:off x="3058668" y="4183380"/>
            <a:ext cx="850392" cy="69494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EB52FF5C-ED79-3448-EEF7-867FA2A7A538}"/>
              </a:ext>
            </a:extLst>
          </p:cNvPr>
          <p:cNvSpPr/>
          <p:nvPr/>
        </p:nvSpPr>
        <p:spPr>
          <a:xfrm>
            <a:off x="3291840" y="4946904"/>
            <a:ext cx="1106424" cy="101498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CI Part run by </a:t>
            </a:r>
            <a:br>
              <a:rPr lang="en-IN" dirty="0">
                <a:solidFill>
                  <a:schemeClr val="tx1"/>
                </a:solidFill>
              </a:rPr>
            </a:br>
            <a:r>
              <a:rPr lang="en-IN" dirty="0">
                <a:solidFill>
                  <a:schemeClr val="tx1"/>
                </a:solidFill>
              </a:rPr>
              <a:t>-Jenkins</a:t>
            </a:r>
          </a:p>
        </p:txBody>
      </p:sp>
      <p:sp>
        <p:nvSpPr>
          <p:cNvPr id="8" name="Rectangle 7">
            <a:extLst>
              <a:ext uri="{FF2B5EF4-FFF2-40B4-BE49-F238E27FC236}">
                <a16:creationId xmlns:a16="http://schemas.microsoft.com/office/drawing/2014/main" id="{E3A90677-43A6-EB03-5C12-D05D154F061F}"/>
              </a:ext>
            </a:extLst>
          </p:cNvPr>
          <p:cNvSpPr/>
          <p:nvPr/>
        </p:nvSpPr>
        <p:spPr>
          <a:xfrm>
            <a:off x="4570210" y="2871216"/>
            <a:ext cx="3575304" cy="2907792"/>
          </a:xfrm>
          <a:prstGeom prst="rect">
            <a:avLst/>
          </a:prstGeom>
          <a:noFill/>
          <a:ln w="476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highlight>
                <a:srgbClr val="000000"/>
              </a:highlight>
            </a:endParaRPr>
          </a:p>
        </p:txBody>
      </p:sp>
      <p:sp>
        <p:nvSpPr>
          <p:cNvPr id="9" name="Rectangle 8">
            <a:extLst>
              <a:ext uri="{FF2B5EF4-FFF2-40B4-BE49-F238E27FC236}">
                <a16:creationId xmlns:a16="http://schemas.microsoft.com/office/drawing/2014/main" id="{FF2508F8-A560-0BC1-8F1D-A768B81AF16C}"/>
              </a:ext>
            </a:extLst>
          </p:cNvPr>
          <p:cNvSpPr/>
          <p:nvPr/>
        </p:nvSpPr>
        <p:spPr>
          <a:xfrm>
            <a:off x="8299172" y="4983480"/>
            <a:ext cx="1106424" cy="9144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CD Part run by </a:t>
            </a:r>
            <a:br>
              <a:rPr lang="en-IN" dirty="0">
                <a:solidFill>
                  <a:schemeClr val="tx1"/>
                </a:solidFill>
              </a:rPr>
            </a:br>
            <a:r>
              <a:rPr lang="en-IN" dirty="0">
                <a:solidFill>
                  <a:schemeClr val="tx1"/>
                </a:solidFill>
              </a:rPr>
              <a:t>-Jenkins</a:t>
            </a:r>
          </a:p>
        </p:txBody>
      </p:sp>
      <p:cxnSp>
        <p:nvCxnSpPr>
          <p:cNvPr id="10" name="Connector: Elbow 9">
            <a:extLst>
              <a:ext uri="{FF2B5EF4-FFF2-40B4-BE49-F238E27FC236}">
                <a16:creationId xmlns:a16="http://schemas.microsoft.com/office/drawing/2014/main" id="{CDBDA40B-5B35-9736-E527-7C92C83EB908}"/>
              </a:ext>
            </a:extLst>
          </p:cNvPr>
          <p:cNvCxnSpPr/>
          <p:nvPr/>
        </p:nvCxnSpPr>
        <p:spPr>
          <a:xfrm rot="16200000" flipH="1">
            <a:off x="8067790" y="4194048"/>
            <a:ext cx="850392" cy="69494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D22581E3-A118-C51F-EB54-90C91E6D9150}"/>
              </a:ext>
            </a:extLst>
          </p:cNvPr>
          <p:cNvSpPr/>
          <p:nvPr/>
        </p:nvSpPr>
        <p:spPr>
          <a:xfrm>
            <a:off x="8631936" y="5961888"/>
            <a:ext cx="2816352" cy="1828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Rounded Corners 11">
            <a:extLst>
              <a:ext uri="{FF2B5EF4-FFF2-40B4-BE49-F238E27FC236}">
                <a16:creationId xmlns:a16="http://schemas.microsoft.com/office/drawing/2014/main" id="{888FB3CB-0903-2331-04D5-F55D2C0C05DD}"/>
              </a:ext>
            </a:extLst>
          </p:cNvPr>
          <p:cNvSpPr/>
          <p:nvPr/>
        </p:nvSpPr>
        <p:spPr>
          <a:xfrm>
            <a:off x="978408" y="3941064"/>
            <a:ext cx="1719072" cy="530352"/>
          </a:xfrm>
          <a:prstGeom prst="roundRect">
            <a:avLst/>
          </a:prstGeom>
          <a:solidFill>
            <a:srgbClr val="D2AEC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Application </a:t>
            </a:r>
          </a:p>
        </p:txBody>
      </p:sp>
      <p:sp>
        <p:nvSpPr>
          <p:cNvPr id="14" name="Rectangle 13">
            <a:extLst>
              <a:ext uri="{FF2B5EF4-FFF2-40B4-BE49-F238E27FC236}">
                <a16:creationId xmlns:a16="http://schemas.microsoft.com/office/drawing/2014/main" id="{4D85A69A-6AD6-DE15-EC43-1D5B74A9097A}"/>
              </a:ext>
            </a:extLst>
          </p:cNvPr>
          <p:cNvSpPr/>
          <p:nvPr/>
        </p:nvSpPr>
        <p:spPr>
          <a:xfrm>
            <a:off x="3145536" y="1920240"/>
            <a:ext cx="4999978" cy="640080"/>
          </a:xfrm>
          <a:prstGeom prst="rect">
            <a:avLst/>
          </a:prstGeom>
          <a:noFill/>
          <a:ln w="476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highlight>
                <a:srgbClr val="000000"/>
              </a:highlight>
            </a:endParaRPr>
          </a:p>
        </p:txBody>
      </p:sp>
      <p:sp>
        <p:nvSpPr>
          <p:cNvPr id="15" name="Rectangle 14">
            <a:extLst>
              <a:ext uri="{FF2B5EF4-FFF2-40B4-BE49-F238E27FC236}">
                <a16:creationId xmlns:a16="http://schemas.microsoft.com/office/drawing/2014/main" id="{B4F00032-57C8-4CE2-0565-F4E8A0E31753}"/>
              </a:ext>
            </a:extLst>
          </p:cNvPr>
          <p:cNvSpPr/>
          <p:nvPr/>
        </p:nvSpPr>
        <p:spPr>
          <a:xfrm>
            <a:off x="2816352" y="1944492"/>
            <a:ext cx="859536" cy="6158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056B884F-6999-E46E-0953-895374033A0D}"/>
              </a:ext>
            </a:extLst>
          </p:cNvPr>
          <p:cNvSpPr/>
          <p:nvPr/>
        </p:nvSpPr>
        <p:spPr>
          <a:xfrm>
            <a:off x="9444954" y="2029250"/>
            <a:ext cx="2042692" cy="3276732"/>
          </a:xfrm>
          <a:prstGeom prst="rect">
            <a:avLst/>
          </a:prstGeom>
          <a:noFill/>
          <a:ln w="444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8" name="Straight Arrow Connector 17">
            <a:extLst>
              <a:ext uri="{FF2B5EF4-FFF2-40B4-BE49-F238E27FC236}">
                <a16:creationId xmlns:a16="http://schemas.microsoft.com/office/drawing/2014/main" id="{A8539A09-D065-422C-A807-B4DF5F20E19B}"/>
              </a:ext>
            </a:extLst>
          </p:cNvPr>
          <p:cNvCxnSpPr>
            <a:stCxn id="16" idx="2"/>
          </p:cNvCxnSpPr>
          <p:nvPr/>
        </p:nvCxnSpPr>
        <p:spPr>
          <a:xfrm>
            <a:off x="10466300" y="5305982"/>
            <a:ext cx="0" cy="4730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EE460A2F-B18A-95C0-7380-129E27236037}"/>
              </a:ext>
            </a:extLst>
          </p:cNvPr>
          <p:cNvSpPr/>
          <p:nvPr/>
        </p:nvSpPr>
        <p:spPr>
          <a:xfrm>
            <a:off x="9765794" y="5704096"/>
            <a:ext cx="1534600" cy="4164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monitoring</a:t>
            </a:r>
          </a:p>
        </p:txBody>
      </p:sp>
    </p:spTree>
    <p:extLst>
      <p:ext uri="{BB962C8B-B14F-4D97-AF65-F5344CB8AC3E}">
        <p14:creationId xmlns:p14="http://schemas.microsoft.com/office/powerpoint/2010/main" val="23650630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40C815C-F8B1-9CF0-9A38-F0094AFD28DC}"/>
              </a:ext>
            </a:extLst>
          </p:cNvPr>
          <p:cNvSpPr txBox="1"/>
          <p:nvPr/>
        </p:nvSpPr>
        <p:spPr>
          <a:xfrm>
            <a:off x="1172817" y="901941"/>
            <a:ext cx="9879496" cy="2308324"/>
          </a:xfrm>
          <a:prstGeom prst="rect">
            <a:avLst/>
          </a:prstGeom>
          <a:noFill/>
        </p:spPr>
        <p:txBody>
          <a:bodyPr wrap="square">
            <a:spAutoFit/>
          </a:bodyPr>
          <a:lstStyle/>
          <a:p>
            <a:pPr>
              <a:buFont typeface="Arial" panose="020B0604020202020204" pitchFamily="34" charset="0"/>
              <a:buChar char="•"/>
            </a:pPr>
            <a:r>
              <a:rPr lang="en-GB" dirty="0"/>
              <a:t>Git is a </a:t>
            </a:r>
            <a:r>
              <a:rPr lang="en-GB" b="1" dirty="0"/>
              <a:t>Distributed Version Control System (DVCS)</a:t>
            </a:r>
            <a:br>
              <a:rPr lang="en-GB" b="1" dirty="0"/>
            </a:br>
            <a:endParaRPr lang="en-GB" dirty="0"/>
          </a:p>
          <a:p>
            <a:pPr>
              <a:buFont typeface="Arial" panose="020B0604020202020204" pitchFamily="34" charset="0"/>
              <a:buChar char="•"/>
            </a:pPr>
            <a:r>
              <a:rPr lang="en-GB" dirty="0"/>
              <a:t>Tracks changes in code</a:t>
            </a:r>
          </a:p>
          <a:p>
            <a:pPr>
              <a:buFont typeface="Arial" panose="020B0604020202020204" pitchFamily="34" charset="0"/>
              <a:buChar char="•"/>
            </a:pPr>
            <a:r>
              <a:rPr lang="en-GB" dirty="0"/>
              <a:t>Allows multiple developers to collaborate</a:t>
            </a:r>
          </a:p>
          <a:p>
            <a:pPr>
              <a:buNone/>
            </a:pPr>
            <a:br>
              <a:rPr lang="en-GB" dirty="0"/>
            </a:br>
            <a:br>
              <a:rPr lang="en-GB" dirty="0"/>
            </a:br>
            <a:r>
              <a:rPr lang="en-GB" dirty="0"/>
              <a:t>👉 Simple line:</a:t>
            </a:r>
            <a:br>
              <a:rPr lang="en-GB" dirty="0"/>
            </a:br>
            <a:r>
              <a:rPr lang="en-GB" b="1" dirty="0"/>
              <a:t>“Git helps you track, manage, and collaborate on code changes.”</a:t>
            </a:r>
            <a:endParaRPr lang="en-GB" dirty="0"/>
          </a:p>
        </p:txBody>
      </p:sp>
      <p:sp>
        <p:nvSpPr>
          <p:cNvPr id="6" name="TextBox 5">
            <a:extLst>
              <a:ext uri="{FF2B5EF4-FFF2-40B4-BE49-F238E27FC236}">
                <a16:creationId xmlns:a16="http://schemas.microsoft.com/office/drawing/2014/main" id="{58DE9643-FC8F-C1C0-0D22-E4BFBBE5A988}"/>
              </a:ext>
            </a:extLst>
          </p:cNvPr>
          <p:cNvSpPr txBox="1"/>
          <p:nvPr/>
        </p:nvSpPr>
        <p:spPr>
          <a:xfrm>
            <a:off x="5406888" y="178904"/>
            <a:ext cx="2773017" cy="369332"/>
          </a:xfrm>
          <a:prstGeom prst="rect">
            <a:avLst/>
          </a:prstGeom>
          <a:noFill/>
        </p:spPr>
        <p:txBody>
          <a:bodyPr wrap="square" rtlCol="0">
            <a:spAutoFit/>
          </a:bodyPr>
          <a:lstStyle/>
          <a:p>
            <a:r>
              <a:rPr lang="en-GB" b="1" dirty="0"/>
              <a:t>Git/GitHub</a:t>
            </a:r>
            <a:endParaRPr lang="en-IN" b="1" dirty="0"/>
          </a:p>
        </p:txBody>
      </p:sp>
      <p:sp>
        <p:nvSpPr>
          <p:cNvPr id="8" name="TextBox 7">
            <a:extLst>
              <a:ext uri="{FF2B5EF4-FFF2-40B4-BE49-F238E27FC236}">
                <a16:creationId xmlns:a16="http://schemas.microsoft.com/office/drawing/2014/main" id="{6CC9DCCC-178A-C5C3-2540-A7DAB35A0382}"/>
              </a:ext>
            </a:extLst>
          </p:cNvPr>
          <p:cNvSpPr txBox="1"/>
          <p:nvPr/>
        </p:nvSpPr>
        <p:spPr>
          <a:xfrm>
            <a:off x="1172817" y="3563970"/>
            <a:ext cx="7136296" cy="2585323"/>
          </a:xfrm>
          <a:prstGeom prst="rect">
            <a:avLst/>
          </a:prstGeom>
          <a:noFill/>
        </p:spPr>
        <p:txBody>
          <a:bodyPr wrap="square">
            <a:spAutoFit/>
          </a:bodyPr>
          <a:lstStyle/>
          <a:p>
            <a:pPr>
              <a:buNone/>
            </a:pPr>
            <a:r>
              <a:rPr lang="en-GB" b="1" dirty="0"/>
              <a:t>Basic Git Workflow</a:t>
            </a:r>
          </a:p>
          <a:p>
            <a:pPr>
              <a:buNone/>
            </a:pPr>
            <a:endParaRPr lang="en-GB" b="1" dirty="0"/>
          </a:p>
          <a:p>
            <a:pPr>
              <a:buFont typeface="+mj-lt"/>
              <a:buAutoNum type="arabicPeriod"/>
            </a:pPr>
            <a:r>
              <a:rPr lang="en-GB" dirty="0"/>
              <a:t>Create/modify file</a:t>
            </a:r>
          </a:p>
          <a:p>
            <a:pPr>
              <a:buFont typeface="+mj-lt"/>
              <a:buAutoNum type="arabicPeriod"/>
            </a:pPr>
            <a:endParaRPr lang="en-GB" dirty="0"/>
          </a:p>
          <a:p>
            <a:pPr>
              <a:buFont typeface="+mj-lt"/>
              <a:buAutoNum type="arabicPeriod"/>
            </a:pPr>
            <a:r>
              <a:rPr lang="en-GB" dirty="0"/>
              <a:t>Add to staging</a:t>
            </a:r>
          </a:p>
          <a:p>
            <a:pPr>
              <a:buFont typeface="+mj-lt"/>
              <a:buAutoNum type="arabicPeriod"/>
            </a:pPr>
            <a:endParaRPr lang="en-GB" dirty="0"/>
          </a:p>
          <a:p>
            <a:pPr>
              <a:buFont typeface="+mj-lt"/>
              <a:buAutoNum type="arabicPeriod"/>
            </a:pPr>
            <a:r>
              <a:rPr lang="en-GB" dirty="0"/>
              <a:t>Commit changes</a:t>
            </a:r>
          </a:p>
          <a:p>
            <a:pPr>
              <a:buFont typeface="+mj-lt"/>
              <a:buAutoNum type="arabicPeriod"/>
            </a:pPr>
            <a:endParaRPr lang="en-GB" dirty="0"/>
          </a:p>
          <a:p>
            <a:pPr>
              <a:buFont typeface="+mj-lt"/>
              <a:buAutoNum type="arabicPeriod"/>
            </a:pPr>
            <a:r>
              <a:rPr lang="en-GB" dirty="0"/>
              <a:t>Push to remote/central repo</a:t>
            </a:r>
          </a:p>
        </p:txBody>
      </p:sp>
    </p:spTree>
    <p:extLst>
      <p:ext uri="{BB962C8B-B14F-4D97-AF65-F5344CB8AC3E}">
        <p14:creationId xmlns:p14="http://schemas.microsoft.com/office/powerpoint/2010/main" val="16527204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07796A-62BE-243C-DCAF-4A73819A2A0D}"/>
              </a:ext>
            </a:extLst>
          </p:cNvPr>
          <p:cNvSpPr txBox="1"/>
          <p:nvPr/>
        </p:nvSpPr>
        <p:spPr>
          <a:xfrm>
            <a:off x="1182757" y="745435"/>
            <a:ext cx="7762460" cy="4247317"/>
          </a:xfrm>
          <a:prstGeom prst="rect">
            <a:avLst/>
          </a:prstGeom>
          <a:noFill/>
        </p:spPr>
        <p:txBody>
          <a:bodyPr wrap="square" rtlCol="0">
            <a:spAutoFit/>
          </a:bodyPr>
          <a:lstStyle/>
          <a:p>
            <a:r>
              <a:rPr lang="en-IN" b="1" dirty="0"/>
              <a:t>                      Important Git commands for Daily use</a:t>
            </a:r>
          </a:p>
          <a:p>
            <a:endParaRPr lang="en-IN" dirty="0"/>
          </a:p>
          <a:p>
            <a:r>
              <a:rPr lang="en-IN" dirty="0"/>
              <a:t>git </a:t>
            </a:r>
            <a:r>
              <a:rPr lang="en-IN" dirty="0" err="1"/>
              <a:t>init</a:t>
            </a:r>
            <a:r>
              <a:rPr lang="en-IN" dirty="0"/>
              <a:t>          # Initialize repo</a:t>
            </a:r>
          </a:p>
          <a:p>
            <a:endParaRPr lang="en-IN" dirty="0"/>
          </a:p>
          <a:p>
            <a:r>
              <a:rPr lang="en-IN" dirty="0"/>
              <a:t>git clone &lt;</a:t>
            </a:r>
            <a:r>
              <a:rPr lang="en-IN" dirty="0" err="1"/>
              <a:t>url</a:t>
            </a:r>
            <a:r>
              <a:rPr lang="en-IN" dirty="0"/>
              <a:t>&gt;   # Copy repo</a:t>
            </a:r>
          </a:p>
          <a:p>
            <a:endParaRPr lang="en-IN" dirty="0"/>
          </a:p>
          <a:p>
            <a:r>
              <a:rPr lang="en-IN" dirty="0"/>
              <a:t>git status        # Check changes</a:t>
            </a:r>
          </a:p>
          <a:p>
            <a:endParaRPr lang="en-IN" dirty="0"/>
          </a:p>
          <a:p>
            <a:r>
              <a:rPr lang="en-IN" dirty="0"/>
              <a:t>git add .         # Add files</a:t>
            </a:r>
          </a:p>
          <a:p>
            <a:endParaRPr lang="en-IN" dirty="0"/>
          </a:p>
          <a:p>
            <a:r>
              <a:rPr lang="en-IN" dirty="0"/>
              <a:t>git commit -m "</a:t>
            </a:r>
            <a:r>
              <a:rPr lang="en-IN" dirty="0" err="1"/>
              <a:t>msg</a:t>
            </a:r>
            <a:r>
              <a:rPr lang="en-IN" dirty="0"/>
              <a:t>"  # Save changes</a:t>
            </a:r>
          </a:p>
          <a:p>
            <a:endParaRPr lang="en-IN" dirty="0"/>
          </a:p>
          <a:p>
            <a:r>
              <a:rPr lang="en-IN" dirty="0"/>
              <a:t>git push          # Upload code</a:t>
            </a:r>
          </a:p>
          <a:p>
            <a:endParaRPr lang="en-IN" dirty="0"/>
          </a:p>
          <a:p>
            <a:r>
              <a:rPr lang="en-IN" dirty="0"/>
              <a:t>git pull          # Get latest code</a:t>
            </a:r>
          </a:p>
        </p:txBody>
      </p:sp>
    </p:spTree>
    <p:extLst>
      <p:ext uri="{BB962C8B-B14F-4D97-AF65-F5344CB8AC3E}">
        <p14:creationId xmlns:p14="http://schemas.microsoft.com/office/powerpoint/2010/main" val="25756387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DBEB9-31ED-C36E-41CB-62C32CECCD6E}"/>
              </a:ext>
            </a:extLst>
          </p:cNvPr>
          <p:cNvSpPr>
            <a:spLocks noGrp="1"/>
          </p:cNvSpPr>
          <p:nvPr>
            <p:ph type="title"/>
          </p:nvPr>
        </p:nvSpPr>
        <p:spPr>
          <a:xfrm>
            <a:off x="677334" y="329184"/>
            <a:ext cx="9207330" cy="5870448"/>
          </a:xfrm>
          <a:ln>
            <a:solidFill>
              <a:schemeClr val="tx1"/>
            </a:solidFill>
          </a:ln>
        </p:spPr>
        <p:txBody>
          <a:bodyPr/>
          <a:lstStyle/>
          <a:p>
            <a:r>
              <a:rPr lang="en-IN" b="1" dirty="0">
                <a:solidFill>
                  <a:schemeClr val="tx1"/>
                </a:solidFill>
              </a:rPr>
              <a:t>Branching strategy </a:t>
            </a:r>
          </a:p>
        </p:txBody>
      </p:sp>
      <p:sp>
        <p:nvSpPr>
          <p:cNvPr id="4" name="Rectangle 3">
            <a:extLst>
              <a:ext uri="{FF2B5EF4-FFF2-40B4-BE49-F238E27FC236}">
                <a16:creationId xmlns:a16="http://schemas.microsoft.com/office/drawing/2014/main" id="{071ECFE3-D047-0432-AF81-85D8583262BD}"/>
              </a:ext>
            </a:extLst>
          </p:cNvPr>
          <p:cNvSpPr/>
          <p:nvPr/>
        </p:nvSpPr>
        <p:spPr>
          <a:xfrm>
            <a:off x="3959352" y="1243584"/>
            <a:ext cx="1828800" cy="11201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Main branch in which DevOps Team merge the changes </a:t>
            </a:r>
          </a:p>
        </p:txBody>
      </p:sp>
      <p:sp>
        <p:nvSpPr>
          <p:cNvPr id="6" name="Rectangle 5">
            <a:extLst>
              <a:ext uri="{FF2B5EF4-FFF2-40B4-BE49-F238E27FC236}">
                <a16:creationId xmlns:a16="http://schemas.microsoft.com/office/drawing/2014/main" id="{1AB10C01-ADAC-01BD-F8A3-B823439094C3}"/>
              </a:ext>
            </a:extLst>
          </p:cNvPr>
          <p:cNvSpPr/>
          <p:nvPr/>
        </p:nvSpPr>
        <p:spPr>
          <a:xfrm>
            <a:off x="3968496" y="2868930"/>
            <a:ext cx="1819656" cy="11201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Development branch in which Developer push the code </a:t>
            </a:r>
          </a:p>
        </p:txBody>
      </p:sp>
      <p:sp>
        <p:nvSpPr>
          <p:cNvPr id="7" name="Rectangle 6">
            <a:extLst>
              <a:ext uri="{FF2B5EF4-FFF2-40B4-BE49-F238E27FC236}">
                <a16:creationId xmlns:a16="http://schemas.microsoft.com/office/drawing/2014/main" id="{AA309E83-9AE5-C464-E6BA-A4F95007E1AB}"/>
              </a:ext>
            </a:extLst>
          </p:cNvPr>
          <p:cNvSpPr/>
          <p:nvPr/>
        </p:nvSpPr>
        <p:spPr>
          <a:xfrm>
            <a:off x="3968496" y="4572000"/>
            <a:ext cx="1828800" cy="11201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Featured branch in which Developer is working </a:t>
            </a:r>
          </a:p>
        </p:txBody>
      </p:sp>
      <p:cxnSp>
        <p:nvCxnSpPr>
          <p:cNvPr id="9" name="Straight Arrow Connector 8">
            <a:extLst>
              <a:ext uri="{FF2B5EF4-FFF2-40B4-BE49-F238E27FC236}">
                <a16:creationId xmlns:a16="http://schemas.microsoft.com/office/drawing/2014/main" id="{84FCAF51-86D1-2731-A21F-D76DA2B4B90D}"/>
              </a:ext>
            </a:extLst>
          </p:cNvPr>
          <p:cNvCxnSpPr>
            <a:cxnSpLocks/>
            <a:stCxn id="7" idx="0"/>
            <a:endCxn id="6" idx="2"/>
          </p:cNvCxnSpPr>
          <p:nvPr/>
        </p:nvCxnSpPr>
        <p:spPr>
          <a:xfrm flipH="1" flipV="1">
            <a:off x="4878324" y="3989070"/>
            <a:ext cx="4572" cy="5829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B106C2F-354A-82F8-F06F-7EF9B75E4E12}"/>
              </a:ext>
            </a:extLst>
          </p:cNvPr>
          <p:cNvCxnSpPr>
            <a:cxnSpLocks/>
            <a:stCxn id="6" idx="0"/>
            <a:endCxn id="4" idx="2"/>
          </p:cNvCxnSpPr>
          <p:nvPr/>
        </p:nvCxnSpPr>
        <p:spPr>
          <a:xfrm flipH="1" flipV="1">
            <a:off x="4873752" y="2363724"/>
            <a:ext cx="4572" cy="5052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5866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BA545-7558-9D80-898C-F0C20EC31905}"/>
              </a:ext>
            </a:extLst>
          </p:cNvPr>
          <p:cNvSpPr>
            <a:spLocks noGrp="1"/>
          </p:cNvSpPr>
          <p:nvPr>
            <p:ph type="title"/>
          </p:nvPr>
        </p:nvSpPr>
        <p:spPr>
          <a:xfrm>
            <a:off x="686478" y="582168"/>
            <a:ext cx="9115890" cy="3477768"/>
          </a:xfrm>
        </p:spPr>
        <p:txBody>
          <a:bodyPr>
            <a:normAutofit fontScale="90000"/>
          </a:bodyPr>
          <a:lstStyle/>
          <a:p>
            <a:r>
              <a:rPr lang="en-IN" sz="1800" b="1" dirty="0">
                <a:solidFill>
                  <a:schemeClr val="tx1"/>
                </a:solidFill>
                <a:latin typeface="+mn-lt"/>
                <a:ea typeface="+mn-ea"/>
                <a:cs typeface="+mn-cs"/>
              </a:rPr>
              <a:t>Interview Question on Git</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1. What is git/</a:t>
            </a:r>
            <a:r>
              <a:rPr lang="en-IN" sz="1800" b="1" dirty="0" err="1">
                <a:solidFill>
                  <a:schemeClr val="tx1"/>
                </a:solidFill>
                <a:latin typeface="+mn-lt"/>
                <a:ea typeface="+mn-ea"/>
                <a:cs typeface="+mn-cs"/>
              </a:rPr>
              <a:t>github</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2. what is your branching strategy :- We create our feature branch and done our changes and push the changes into the master branch.</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3. what is git rebase </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4. what is git webhooks </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5. what is source code</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6. what is Difference between continuous Deployment and Continuous Delivery.</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 </a:t>
            </a:r>
            <a:br>
              <a:rPr lang="en-IN" sz="1800" b="1" dirty="0">
                <a:solidFill>
                  <a:schemeClr val="tx1"/>
                </a:solidFill>
                <a:latin typeface="+mn-lt"/>
                <a:ea typeface="+mn-ea"/>
                <a:cs typeface="+mn-cs"/>
              </a:rPr>
            </a:br>
            <a:endParaRPr lang="en-IN" sz="1800" b="1" dirty="0">
              <a:solidFill>
                <a:schemeClr val="tx1"/>
              </a:solidFill>
              <a:latin typeface="+mn-lt"/>
              <a:ea typeface="+mn-ea"/>
              <a:cs typeface="+mn-cs"/>
            </a:endParaRPr>
          </a:p>
        </p:txBody>
      </p:sp>
    </p:spTree>
    <p:extLst>
      <p:ext uri="{BB962C8B-B14F-4D97-AF65-F5344CB8AC3E}">
        <p14:creationId xmlns:p14="http://schemas.microsoft.com/office/powerpoint/2010/main" val="65902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6440C95B-F2BE-E045-2F84-EA34960D6554}"/>
              </a:ext>
            </a:extLst>
          </p:cNvPr>
          <p:cNvSpPr txBox="1"/>
          <p:nvPr/>
        </p:nvSpPr>
        <p:spPr>
          <a:xfrm>
            <a:off x="2632710" y="382012"/>
            <a:ext cx="6926580" cy="461665"/>
          </a:xfrm>
          <a:prstGeom prst="rect">
            <a:avLst/>
          </a:prstGeom>
          <a:noFill/>
        </p:spPr>
        <p:txBody>
          <a:bodyPr wrap="square">
            <a:spAutoFit/>
          </a:bodyPr>
          <a:lstStyle/>
          <a:p>
            <a:r>
              <a:rPr lang="en-IN" sz="2400" b="1" dirty="0"/>
              <a:t>Application Package : .NET and Java : Code</a:t>
            </a:r>
          </a:p>
        </p:txBody>
      </p:sp>
      <p:sp>
        <p:nvSpPr>
          <p:cNvPr id="8" name="TextBox 7">
            <a:extLst>
              <a:ext uri="{FF2B5EF4-FFF2-40B4-BE49-F238E27FC236}">
                <a16:creationId xmlns:a16="http://schemas.microsoft.com/office/drawing/2014/main" id="{98D72F69-F434-88CC-4204-5F6815531C22}"/>
              </a:ext>
            </a:extLst>
          </p:cNvPr>
          <p:cNvSpPr txBox="1"/>
          <p:nvPr/>
        </p:nvSpPr>
        <p:spPr>
          <a:xfrm>
            <a:off x="864108" y="1397675"/>
            <a:ext cx="8069580" cy="5078313"/>
          </a:xfrm>
          <a:prstGeom prst="rect">
            <a:avLst/>
          </a:prstGeom>
          <a:noFill/>
        </p:spPr>
        <p:txBody>
          <a:bodyPr wrap="square">
            <a:spAutoFit/>
          </a:bodyPr>
          <a:lstStyle/>
          <a:p>
            <a:pPr>
              <a:buNone/>
            </a:pPr>
            <a:r>
              <a:rPr lang="en-IN" b="1" dirty="0"/>
              <a:t>Application Packaging (.NET &amp; Java)</a:t>
            </a:r>
          </a:p>
          <a:p>
            <a:pPr>
              <a:buNone/>
            </a:pPr>
            <a:br>
              <a:rPr lang="en-IN" b="1" dirty="0"/>
            </a:br>
            <a:r>
              <a:rPr lang="en-IN" b="1" dirty="0"/>
              <a:t>What is Application Packaging?</a:t>
            </a:r>
          </a:p>
          <a:p>
            <a:pPr>
              <a:buFont typeface="Arial" panose="020B0604020202020204" pitchFamily="34" charset="0"/>
              <a:buChar char="•"/>
            </a:pPr>
            <a:r>
              <a:rPr lang="en-IN" dirty="0"/>
              <a:t>Converting source code into a </a:t>
            </a:r>
            <a:r>
              <a:rPr lang="en-IN" b="1" dirty="0"/>
              <a:t>deployable format</a:t>
            </a:r>
            <a:endParaRPr lang="en-IN" dirty="0"/>
          </a:p>
          <a:p>
            <a:pPr>
              <a:buFont typeface="Arial" panose="020B0604020202020204" pitchFamily="34" charset="0"/>
              <a:buChar char="•"/>
            </a:pPr>
            <a:r>
              <a:rPr lang="en-IN" dirty="0"/>
              <a:t>Output = </a:t>
            </a:r>
            <a:r>
              <a:rPr lang="en-IN" b="1" dirty="0"/>
              <a:t>artifact</a:t>
            </a:r>
            <a:r>
              <a:rPr lang="en-IN" dirty="0"/>
              <a:t> </a:t>
            </a:r>
          </a:p>
          <a:p>
            <a:pPr>
              <a:buNone/>
            </a:pPr>
            <a:r>
              <a:rPr lang="en-IN" dirty="0"/>
              <a:t>👉 Examples:</a:t>
            </a:r>
          </a:p>
          <a:p>
            <a:pPr>
              <a:buFont typeface="Arial" panose="020B0604020202020204" pitchFamily="34" charset="0"/>
              <a:buChar char="•"/>
            </a:pPr>
            <a:r>
              <a:rPr lang="en-IN" dirty="0"/>
              <a:t>Java → </a:t>
            </a:r>
            <a:r>
              <a:rPr lang="en-IN" dirty="0">
                <a:latin typeface="Courier New" panose="02070309020205020404" pitchFamily="49" charset="0"/>
              </a:rPr>
              <a:t>.war</a:t>
            </a:r>
            <a:r>
              <a:rPr lang="en-IN" dirty="0"/>
              <a:t> </a:t>
            </a:r>
          </a:p>
          <a:p>
            <a:r>
              <a:rPr lang="en-IN" dirty="0"/>
              <a:t>.NET → </a:t>
            </a:r>
            <a:r>
              <a:rPr lang="en-IN" dirty="0">
                <a:latin typeface="Courier New" panose="02070309020205020404" pitchFamily="49" charset="0"/>
              </a:rPr>
              <a:t>.</a:t>
            </a:r>
            <a:r>
              <a:rPr lang="en-IN" dirty="0" err="1">
                <a:latin typeface="Courier New" panose="02070309020205020404" pitchFamily="49" charset="0"/>
              </a:rPr>
              <a:t>dll</a:t>
            </a:r>
            <a:r>
              <a:rPr lang="en-IN" dirty="0"/>
              <a:t>, </a:t>
            </a:r>
            <a:r>
              <a:rPr lang="en-IN" dirty="0">
                <a:latin typeface="Courier New" panose="02070309020205020404" pitchFamily="49" charset="0"/>
              </a:rPr>
              <a:t>.exe</a:t>
            </a:r>
            <a:br>
              <a:rPr lang="en-IN" dirty="0">
                <a:latin typeface="Courier New" panose="02070309020205020404" pitchFamily="49" charset="0"/>
              </a:rPr>
            </a:br>
            <a:br>
              <a:rPr lang="en-IN" dirty="0">
                <a:latin typeface="Courier New" panose="02070309020205020404" pitchFamily="49" charset="0"/>
              </a:rPr>
            </a:br>
            <a:r>
              <a:rPr lang="en-US" dirty="0"/>
              <a:t>In the build step, we compile the code and package it into a deployable file like a WAR</a:t>
            </a:r>
            <a:br>
              <a:rPr lang="en-IN" dirty="0">
                <a:latin typeface="Courier New" panose="02070309020205020404" pitchFamily="49" charset="0"/>
              </a:rPr>
            </a:br>
            <a:br>
              <a:rPr lang="en-IN" dirty="0">
                <a:latin typeface="Courier New" panose="02070309020205020404" pitchFamily="49" charset="0"/>
              </a:rPr>
            </a:br>
            <a:r>
              <a:rPr lang="en-US" b="1" dirty="0"/>
              <a:t>Why Packaging is Important :- </a:t>
            </a:r>
          </a:p>
          <a:p>
            <a:r>
              <a:rPr lang="en-US" dirty="0"/>
              <a:t>Ready for deployment  </a:t>
            </a:r>
          </a:p>
          <a:p>
            <a:r>
              <a:rPr lang="en-US" dirty="0"/>
              <a:t>Consistent builds </a:t>
            </a:r>
          </a:p>
          <a:p>
            <a:r>
              <a:rPr lang="en-US" dirty="0"/>
              <a:t>Easy to share </a:t>
            </a:r>
          </a:p>
          <a:p>
            <a:r>
              <a:rPr lang="en-US" dirty="0"/>
              <a:t>Used in CI/CD pipelines</a:t>
            </a:r>
          </a:p>
          <a:p>
            <a:pPr>
              <a:buFont typeface="Arial" panose="020B0604020202020204" pitchFamily="34" charset="0"/>
              <a:buChar char="•"/>
            </a:pPr>
            <a:endParaRPr lang="en-IN" dirty="0"/>
          </a:p>
        </p:txBody>
      </p:sp>
    </p:spTree>
    <p:extLst>
      <p:ext uri="{BB962C8B-B14F-4D97-AF65-F5344CB8AC3E}">
        <p14:creationId xmlns:p14="http://schemas.microsoft.com/office/powerpoint/2010/main" val="1420493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7501B3D-3F3F-DDB7-D53F-AB3CBA756A47}"/>
              </a:ext>
            </a:extLst>
          </p:cNvPr>
          <p:cNvSpPr txBox="1"/>
          <p:nvPr/>
        </p:nvSpPr>
        <p:spPr>
          <a:xfrm>
            <a:off x="973836" y="693712"/>
            <a:ext cx="7987284" cy="1200329"/>
          </a:xfrm>
          <a:prstGeom prst="rect">
            <a:avLst/>
          </a:prstGeom>
          <a:noFill/>
        </p:spPr>
        <p:txBody>
          <a:bodyPr wrap="square">
            <a:spAutoFit/>
          </a:bodyPr>
          <a:lstStyle/>
          <a:p>
            <a:pPr>
              <a:buNone/>
            </a:pPr>
            <a:r>
              <a:rPr lang="en-US" b="1" dirty="0"/>
              <a:t>Java Build Tools</a:t>
            </a:r>
          </a:p>
          <a:p>
            <a:pPr>
              <a:buFont typeface="Arial" panose="020B0604020202020204" pitchFamily="34" charset="0"/>
              <a:buChar char="•"/>
            </a:pPr>
            <a:r>
              <a:rPr lang="en-US" dirty="0"/>
              <a:t>Maven </a:t>
            </a:r>
          </a:p>
          <a:p>
            <a:pPr>
              <a:buFont typeface="Arial" panose="020B0604020202020204" pitchFamily="34" charset="0"/>
              <a:buChar char="•"/>
            </a:pPr>
            <a:r>
              <a:rPr lang="en-US" dirty="0"/>
              <a:t>Gradle </a:t>
            </a:r>
          </a:p>
          <a:p>
            <a:pPr>
              <a:buFont typeface="Arial" panose="020B0604020202020204" pitchFamily="34" charset="0"/>
              <a:buChar char="•"/>
            </a:pPr>
            <a:r>
              <a:rPr lang="en-US" dirty="0"/>
              <a:t>Most common: </a:t>
            </a:r>
            <a:r>
              <a:rPr lang="en-US" b="1" dirty="0"/>
              <a:t>Maven</a:t>
            </a:r>
            <a:endParaRPr lang="en-US" dirty="0"/>
          </a:p>
        </p:txBody>
      </p:sp>
      <p:sp>
        <p:nvSpPr>
          <p:cNvPr id="7" name="TextBox 6">
            <a:extLst>
              <a:ext uri="{FF2B5EF4-FFF2-40B4-BE49-F238E27FC236}">
                <a16:creationId xmlns:a16="http://schemas.microsoft.com/office/drawing/2014/main" id="{2D773E50-54CE-05EC-692A-EE95C315C889}"/>
              </a:ext>
            </a:extLst>
          </p:cNvPr>
          <p:cNvSpPr txBox="1"/>
          <p:nvPr/>
        </p:nvSpPr>
        <p:spPr>
          <a:xfrm>
            <a:off x="973836" y="2690336"/>
            <a:ext cx="7987284" cy="2585323"/>
          </a:xfrm>
          <a:prstGeom prst="rect">
            <a:avLst/>
          </a:prstGeom>
          <a:noFill/>
        </p:spPr>
        <p:txBody>
          <a:bodyPr wrap="square">
            <a:spAutoFit/>
          </a:bodyPr>
          <a:lstStyle/>
          <a:p>
            <a:r>
              <a:rPr lang="en-IN" dirty="0"/>
              <a:t>project/</a:t>
            </a:r>
          </a:p>
          <a:p>
            <a:r>
              <a:rPr lang="en-IN" dirty="0"/>
              <a:t> ├── </a:t>
            </a:r>
            <a:r>
              <a:rPr lang="en-IN" dirty="0" err="1"/>
              <a:t>src</a:t>
            </a:r>
            <a:r>
              <a:rPr lang="en-IN" dirty="0"/>
              <a:t>/</a:t>
            </a:r>
          </a:p>
          <a:p>
            <a:r>
              <a:rPr lang="en-IN" dirty="0"/>
              <a:t> │   ├── main/java</a:t>
            </a:r>
          </a:p>
          <a:p>
            <a:r>
              <a:rPr lang="en-IN" dirty="0"/>
              <a:t> │   └── test/java</a:t>
            </a:r>
          </a:p>
          <a:p>
            <a:r>
              <a:rPr lang="en-IN" dirty="0"/>
              <a:t> ├── pom.xml</a:t>
            </a:r>
            <a:br>
              <a:rPr lang="en-IN" dirty="0"/>
            </a:br>
            <a:br>
              <a:rPr lang="en-IN" dirty="0"/>
            </a:br>
            <a:r>
              <a:rPr lang="en-US" dirty="0"/>
              <a:t>pom.xml is the file that tells Maven how to build your project. Maven automatically downloads required libraries Controls how your app is built (WAR/JAR)</a:t>
            </a:r>
            <a:endParaRPr lang="en-IN" dirty="0"/>
          </a:p>
        </p:txBody>
      </p:sp>
      <p:sp>
        <p:nvSpPr>
          <p:cNvPr id="9" name="TextBox 8">
            <a:extLst>
              <a:ext uri="{FF2B5EF4-FFF2-40B4-BE49-F238E27FC236}">
                <a16:creationId xmlns:a16="http://schemas.microsoft.com/office/drawing/2014/main" id="{6E5CDFD5-540A-39E1-0A11-7DEE54B2A632}"/>
              </a:ext>
            </a:extLst>
          </p:cNvPr>
          <p:cNvSpPr txBox="1"/>
          <p:nvPr/>
        </p:nvSpPr>
        <p:spPr>
          <a:xfrm>
            <a:off x="973836" y="2107522"/>
            <a:ext cx="6099048" cy="369332"/>
          </a:xfrm>
          <a:prstGeom prst="rect">
            <a:avLst/>
          </a:prstGeom>
          <a:noFill/>
        </p:spPr>
        <p:txBody>
          <a:bodyPr wrap="square">
            <a:spAutoFit/>
          </a:bodyPr>
          <a:lstStyle/>
          <a:p>
            <a:r>
              <a:rPr lang="en-IN" dirty="0"/>
              <a:t>Maven Project Structure</a:t>
            </a:r>
          </a:p>
        </p:txBody>
      </p:sp>
      <p:sp>
        <p:nvSpPr>
          <p:cNvPr id="11" name="TextBox 10">
            <a:extLst>
              <a:ext uri="{FF2B5EF4-FFF2-40B4-BE49-F238E27FC236}">
                <a16:creationId xmlns:a16="http://schemas.microsoft.com/office/drawing/2014/main" id="{C6CEA3D0-D5CC-EC94-583D-91BF33B30405}"/>
              </a:ext>
            </a:extLst>
          </p:cNvPr>
          <p:cNvSpPr txBox="1"/>
          <p:nvPr/>
        </p:nvSpPr>
        <p:spPr>
          <a:xfrm>
            <a:off x="973836" y="4963960"/>
            <a:ext cx="8270748" cy="646331"/>
          </a:xfrm>
          <a:prstGeom prst="rect">
            <a:avLst/>
          </a:prstGeom>
          <a:noFill/>
        </p:spPr>
        <p:txBody>
          <a:bodyPr wrap="square">
            <a:spAutoFit/>
          </a:bodyPr>
          <a:lstStyle/>
          <a:p>
            <a:br>
              <a:rPr lang="en-US" dirty="0"/>
            </a:br>
            <a:r>
              <a:rPr lang="en-US" dirty="0"/>
              <a:t>Packaging = converting code into something we can run or deploy.”</a:t>
            </a:r>
            <a:endParaRPr lang="en-IN" dirty="0"/>
          </a:p>
        </p:txBody>
      </p:sp>
      <p:sp>
        <p:nvSpPr>
          <p:cNvPr id="13" name="TextBox 12">
            <a:extLst>
              <a:ext uri="{FF2B5EF4-FFF2-40B4-BE49-F238E27FC236}">
                <a16:creationId xmlns:a16="http://schemas.microsoft.com/office/drawing/2014/main" id="{5C8E664D-B99B-D8AA-9791-0C9D8C14EB77}"/>
              </a:ext>
            </a:extLst>
          </p:cNvPr>
          <p:cNvSpPr txBox="1"/>
          <p:nvPr/>
        </p:nvSpPr>
        <p:spPr>
          <a:xfrm>
            <a:off x="914400" y="5702622"/>
            <a:ext cx="8106156" cy="369332"/>
          </a:xfrm>
          <a:prstGeom prst="rect">
            <a:avLst/>
          </a:prstGeom>
          <a:noFill/>
        </p:spPr>
        <p:txBody>
          <a:bodyPr wrap="square">
            <a:spAutoFit/>
          </a:bodyPr>
          <a:lstStyle/>
          <a:p>
            <a:r>
              <a:rPr lang="en-US" dirty="0"/>
              <a:t> In DevOps, we don’t deploy source code — we deploy </a:t>
            </a:r>
            <a:r>
              <a:rPr lang="en-US" b="1" dirty="0"/>
              <a:t>artifacts</a:t>
            </a:r>
            <a:endParaRPr lang="en-IN" dirty="0"/>
          </a:p>
        </p:txBody>
      </p:sp>
    </p:spTree>
    <p:extLst>
      <p:ext uri="{BB962C8B-B14F-4D97-AF65-F5344CB8AC3E}">
        <p14:creationId xmlns:p14="http://schemas.microsoft.com/office/powerpoint/2010/main" val="140260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B0FA7-BD78-71E7-F0AB-FC6DDAE2DE8A}"/>
              </a:ext>
            </a:extLst>
          </p:cNvPr>
          <p:cNvSpPr>
            <a:spLocks noGrp="1"/>
          </p:cNvSpPr>
          <p:nvPr>
            <p:ph type="title"/>
          </p:nvPr>
        </p:nvSpPr>
        <p:spPr>
          <a:xfrm>
            <a:off x="677334" y="609600"/>
            <a:ext cx="8596668" cy="2901696"/>
          </a:xfrm>
        </p:spPr>
        <p:txBody>
          <a:bodyPr>
            <a:normAutofit fontScale="90000"/>
          </a:bodyPr>
          <a:lstStyle/>
          <a:p>
            <a:r>
              <a:rPr lang="en-IN" sz="2400" dirty="0">
                <a:solidFill>
                  <a:schemeClr val="tx1"/>
                </a:solidFill>
              </a:rPr>
              <a:t>Interview question on Maven</a:t>
            </a:r>
            <a:br>
              <a:rPr lang="en-IN" sz="2400" dirty="0">
                <a:solidFill>
                  <a:schemeClr val="tx1"/>
                </a:solidFill>
              </a:rPr>
            </a:br>
            <a:br>
              <a:rPr lang="en-IN" sz="2400" dirty="0">
                <a:solidFill>
                  <a:schemeClr val="tx1"/>
                </a:solidFill>
              </a:rPr>
            </a:br>
            <a:r>
              <a:rPr lang="en-IN" sz="2400" dirty="0">
                <a:solidFill>
                  <a:schemeClr val="tx1"/>
                </a:solidFill>
              </a:rPr>
              <a:t>1. what is maven</a:t>
            </a:r>
            <a:br>
              <a:rPr lang="en-IN" sz="2400" dirty="0">
                <a:solidFill>
                  <a:schemeClr val="tx1"/>
                </a:solidFill>
              </a:rPr>
            </a:br>
            <a:br>
              <a:rPr lang="en-IN" sz="2400" dirty="0">
                <a:solidFill>
                  <a:schemeClr val="tx1"/>
                </a:solidFill>
              </a:rPr>
            </a:br>
            <a:r>
              <a:rPr lang="en-IN" sz="2400" dirty="0">
                <a:solidFill>
                  <a:schemeClr val="tx1"/>
                </a:solidFill>
              </a:rPr>
              <a:t>2. what is pom.xml :- Contains all the Dependency Configuration which is help to maven to build the application</a:t>
            </a:r>
            <a:br>
              <a:rPr lang="en-IN" sz="2400" dirty="0">
                <a:solidFill>
                  <a:schemeClr val="tx1"/>
                </a:solidFill>
              </a:rPr>
            </a:br>
            <a:br>
              <a:rPr lang="en-IN" sz="2400" dirty="0">
                <a:solidFill>
                  <a:schemeClr val="tx1"/>
                </a:solidFill>
              </a:rPr>
            </a:br>
            <a:r>
              <a:rPr lang="en-IN" sz="2400" dirty="0">
                <a:solidFill>
                  <a:schemeClr val="tx1"/>
                </a:solidFill>
              </a:rPr>
              <a:t>3. which build tool you are using for building Java Application :- Maven </a:t>
            </a:r>
            <a:br>
              <a:rPr lang="en-IN" sz="2400" dirty="0">
                <a:solidFill>
                  <a:schemeClr val="tx1"/>
                </a:solidFill>
              </a:rPr>
            </a:br>
            <a:br>
              <a:rPr lang="en-IN" sz="2400" dirty="0">
                <a:solidFill>
                  <a:schemeClr val="tx1"/>
                </a:solidFill>
              </a:rPr>
            </a:br>
            <a:r>
              <a:rPr lang="en-IN" sz="2400" dirty="0">
                <a:solidFill>
                  <a:schemeClr val="tx1"/>
                </a:solidFill>
              </a:rPr>
              <a:t>4. command use to build the application through Maven</a:t>
            </a:r>
            <a:br>
              <a:rPr lang="en-IN" sz="2400" dirty="0">
                <a:solidFill>
                  <a:schemeClr val="tx1"/>
                </a:solidFill>
              </a:rPr>
            </a:br>
            <a:r>
              <a:rPr lang="en-IN" sz="2400" dirty="0">
                <a:solidFill>
                  <a:schemeClr val="tx1"/>
                </a:solidFill>
              </a:rPr>
              <a:t>  </a:t>
            </a:r>
            <a:br>
              <a:rPr lang="en-IN" sz="2400" dirty="0">
                <a:solidFill>
                  <a:schemeClr val="tx1"/>
                </a:solidFill>
              </a:rPr>
            </a:br>
            <a:r>
              <a:rPr lang="en-IN" sz="2400" dirty="0">
                <a:solidFill>
                  <a:schemeClr val="tx1"/>
                </a:solidFill>
              </a:rPr>
              <a:t>  </a:t>
            </a:r>
            <a:r>
              <a:rPr lang="en-IN" sz="2400" dirty="0" err="1">
                <a:solidFill>
                  <a:schemeClr val="tx1"/>
                </a:solidFill>
              </a:rPr>
              <a:t>mvn</a:t>
            </a:r>
            <a:r>
              <a:rPr lang="en-IN" sz="2400" dirty="0">
                <a:solidFill>
                  <a:schemeClr val="tx1"/>
                </a:solidFill>
              </a:rPr>
              <a:t> clean</a:t>
            </a:r>
            <a:br>
              <a:rPr lang="en-IN" sz="2400" dirty="0">
                <a:solidFill>
                  <a:schemeClr val="tx1"/>
                </a:solidFill>
              </a:rPr>
            </a:br>
            <a:r>
              <a:rPr lang="en-IN" sz="2400" dirty="0">
                <a:solidFill>
                  <a:schemeClr val="tx1"/>
                </a:solidFill>
              </a:rPr>
              <a:t>  </a:t>
            </a:r>
            <a:r>
              <a:rPr lang="en-IN" sz="2400" dirty="0" err="1">
                <a:solidFill>
                  <a:schemeClr val="tx1"/>
                </a:solidFill>
              </a:rPr>
              <a:t>mvn</a:t>
            </a:r>
            <a:r>
              <a:rPr lang="en-IN" sz="2400" dirty="0">
                <a:solidFill>
                  <a:schemeClr val="tx1"/>
                </a:solidFill>
              </a:rPr>
              <a:t> build</a:t>
            </a:r>
            <a:br>
              <a:rPr lang="en-IN" sz="2400" dirty="0">
                <a:solidFill>
                  <a:schemeClr val="tx1"/>
                </a:solidFill>
              </a:rPr>
            </a:br>
            <a:r>
              <a:rPr lang="en-IN" sz="2400" dirty="0">
                <a:solidFill>
                  <a:schemeClr val="tx1"/>
                </a:solidFill>
              </a:rPr>
              <a:t>  </a:t>
            </a:r>
            <a:r>
              <a:rPr lang="en-IN" sz="2400" dirty="0" err="1">
                <a:solidFill>
                  <a:schemeClr val="tx1"/>
                </a:solidFill>
              </a:rPr>
              <a:t>mvn</a:t>
            </a:r>
            <a:r>
              <a:rPr lang="en-IN" sz="2400" dirty="0">
                <a:solidFill>
                  <a:schemeClr val="tx1"/>
                </a:solidFill>
              </a:rPr>
              <a:t> package </a:t>
            </a:r>
            <a:br>
              <a:rPr lang="en-IN" sz="2400" dirty="0">
                <a:solidFill>
                  <a:schemeClr val="tx1"/>
                </a:solidFill>
              </a:rPr>
            </a:br>
            <a:br>
              <a:rPr lang="en-IN" sz="2400" dirty="0">
                <a:solidFill>
                  <a:schemeClr val="tx1"/>
                </a:solidFill>
              </a:rPr>
            </a:br>
            <a:br>
              <a:rPr lang="en-IN" sz="2400" dirty="0">
                <a:solidFill>
                  <a:schemeClr val="tx1"/>
                </a:solidFill>
              </a:rPr>
            </a:br>
            <a:br>
              <a:rPr lang="en-IN" sz="2400" dirty="0">
                <a:solidFill>
                  <a:schemeClr val="tx1"/>
                </a:solidFill>
              </a:rPr>
            </a:br>
            <a:endParaRPr lang="en-IN" sz="2400" dirty="0">
              <a:solidFill>
                <a:schemeClr val="tx1"/>
              </a:solidFill>
            </a:endParaRPr>
          </a:p>
        </p:txBody>
      </p:sp>
    </p:spTree>
    <p:extLst>
      <p:ext uri="{BB962C8B-B14F-4D97-AF65-F5344CB8AC3E}">
        <p14:creationId xmlns:p14="http://schemas.microsoft.com/office/powerpoint/2010/main" val="12086708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3207A72-4BF8-9B02-FC4D-224E5B0BC904}"/>
              </a:ext>
            </a:extLst>
          </p:cNvPr>
          <p:cNvSpPr txBox="1"/>
          <p:nvPr/>
        </p:nvSpPr>
        <p:spPr>
          <a:xfrm>
            <a:off x="1101852" y="1568857"/>
            <a:ext cx="8563356" cy="2862322"/>
          </a:xfrm>
          <a:prstGeom prst="rect">
            <a:avLst/>
          </a:prstGeom>
          <a:noFill/>
        </p:spPr>
        <p:txBody>
          <a:bodyPr wrap="square">
            <a:spAutoFit/>
          </a:bodyPr>
          <a:lstStyle/>
          <a:p>
            <a:pPr>
              <a:buNone/>
            </a:pPr>
            <a:r>
              <a:rPr lang="en-US" b="1" dirty="0"/>
              <a:t>What is CI/CD?</a:t>
            </a:r>
          </a:p>
          <a:p>
            <a:pPr>
              <a:buNone/>
            </a:pPr>
            <a:endParaRPr lang="en-US" b="1" dirty="0"/>
          </a:p>
          <a:p>
            <a:pPr>
              <a:buNone/>
            </a:pPr>
            <a:r>
              <a:rPr lang="en-US" b="1" dirty="0"/>
              <a:t>🔹 Continuous Integration (CI)</a:t>
            </a:r>
          </a:p>
          <a:p>
            <a:pPr>
              <a:buNone/>
            </a:pPr>
            <a:endParaRPr lang="en-US" b="1" dirty="0"/>
          </a:p>
          <a:p>
            <a:pPr>
              <a:buFont typeface="Arial" panose="020B0604020202020204" pitchFamily="34" charset="0"/>
              <a:buChar char="•"/>
            </a:pPr>
            <a:r>
              <a:rPr lang="en-US" dirty="0"/>
              <a:t>Developers push code frequently </a:t>
            </a:r>
          </a:p>
          <a:p>
            <a:pPr>
              <a:buFont typeface="Arial" panose="020B0604020202020204" pitchFamily="34" charset="0"/>
              <a:buChar char="•"/>
            </a:pPr>
            <a:r>
              <a:rPr lang="en-US" dirty="0"/>
              <a:t>Automatically build &amp; test </a:t>
            </a:r>
          </a:p>
          <a:p>
            <a:pPr>
              <a:buFont typeface="Arial" panose="020B0604020202020204" pitchFamily="34" charset="0"/>
              <a:buChar char="•"/>
            </a:pPr>
            <a:endParaRPr lang="en-US" dirty="0"/>
          </a:p>
          <a:p>
            <a:pPr>
              <a:buNone/>
            </a:pPr>
            <a:r>
              <a:rPr lang="en-US" b="1" dirty="0"/>
              <a:t>🔹 Continuous Deployment (CD)</a:t>
            </a:r>
          </a:p>
          <a:p>
            <a:pPr>
              <a:buNone/>
            </a:pPr>
            <a:endParaRPr lang="en-US" b="1" dirty="0"/>
          </a:p>
          <a:p>
            <a:pPr>
              <a:buFont typeface="Arial" panose="020B0604020202020204" pitchFamily="34" charset="0"/>
              <a:buChar char="•"/>
            </a:pPr>
            <a:r>
              <a:rPr lang="en-US" dirty="0"/>
              <a:t>Automatically deploy to server</a:t>
            </a:r>
          </a:p>
        </p:txBody>
      </p:sp>
      <p:sp>
        <p:nvSpPr>
          <p:cNvPr id="10" name="TextBox 9">
            <a:extLst>
              <a:ext uri="{FF2B5EF4-FFF2-40B4-BE49-F238E27FC236}">
                <a16:creationId xmlns:a16="http://schemas.microsoft.com/office/drawing/2014/main" id="{416B624F-E7D8-B76C-669D-B0E9AC124A0A}"/>
              </a:ext>
            </a:extLst>
          </p:cNvPr>
          <p:cNvSpPr txBox="1"/>
          <p:nvPr/>
        </p:nvSpPr>
        <p:spPr>
          <a:xfrm>
            <a:off x="2519172" y="377690"/>
            <a:ext cx="6099048" cy="369332"/>
          </a:xfrm>
          <a:prstGeom prst="rect">
            <a:avLst/>
          </a:prstGeom>
          <a:noFill/>
        </p:spPr>
        <p:txBody>
          <a:bodyPr wrap="square">
            <a:spAutoFit/>
          </a:bodyPr>
          <a:lstStyle/>
          <a:p>
            <a:r>
              <a:rPr lang="en-IN" dirty="0"/>
              <a:t>CICD : Continues Integration  and Continues Deployment </a:t>
            </a:r>
          </a:p>
        </p:txBody>
      </p:sp>
    </p:spTree>
    <p:extLst>
      <p:ext uri="{BB962C8B-B14F-4D97-AF65-F5344CB8AC3E}">
        <p14:creationId xmlns:p14="http://schemas.microsoft.com/office/powerpoint/2010/main" val="34367991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6887694-6666-6DC0-7624-EAF2217722D1}"/>
              </a:ext>
            </a:extLst>
          </p:cNvPr>
          <p:cNvSpPr txBox="1"/>
          <p:nvPr/>
        </p:nvSpPr>
        <p:spPr>
          <a:xfrm>
            <a:off x="4543044" y="258818"/>
            <a:ext cx="6099048" cy="369332"/>
          </a:xfrm>
          <a:prstGeom prst="rect">
            <a:avLst/>
          </a:prstGeom>
          <a:noFill/>
        </p:spPr>
        <p:txBody>
          <a:bodyPr wrap="square">
            <a:spAutoFit/>
          </a:bodyPr>
          <a:lstStyle/>
          <a:p>
            <a:r>
              <a:rPr lang="en-IN" dirty="0"/>
              <a:t>CI/CD : Flow Jenkins</a:t>
            </a:r>
          </a:p>
        </p:txBody>
      </p:sp>
      <p:sp>
        <p:nvSpPr>
          <p:cNvPr id="5" name="Rectangle 4">
            <a:extLst>
              <a:ext uri="{FF2B5EF4-FFF2-40B4-BE49-F238E27FC236}">
                <a16:creationId xmlns:a16="http://schemas.microsoft.com/office/drawing/2014/main" id="{ECD8615C-A482-7865-AFD4-970E97B9E3AE}"/>
              </a:ext>
            </a:extLst>
          </p:cNvPr>
          <p:cNvSpPr/>
          <p:nvPr/>
        </p:nvSpPr>
        <p:spPr>
          <a:xfrm>
            <a:off x="73152" y="1929384"/>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Git checkout  </a:t>
            </a:r>
          </a:p>
        </p:txBody>
      </p:sp>
      <p:sp>
        <p:nvSpPr>
          <p:cNvPr id="6" name="Rectangle 5">
            <a:extLst>
              <a:ext uri="{FF2B5EF4-FFF2-40B4-BE49-F238E27FC236}">
                <a16:creationId xmlns:a16="http://schemas.microsoft.com/office/drawing/2014/main" id="{F7A00CD2-5619-CAE2-88BB-D5DAE2958350}"/>
              </a:ext>
            </a:extLst>
          </p:cNvPr>
          <p:cNvSpPr/>
          <p:nvPr/>
        </p:nvSpPr>
        <p:spPr>
          <a:xfrm>
            <a:off x="5471160" y="1847088"/>
            <a:ext cx="1825752" cy="101498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Images/Deployment container</a:t>
            </a:r>
          </a:p>
        </p:txBody>
      </p:sp>
      <p:sp>
        <p:nvSpPr>
          <p:cNvPr id="7" name="Rectangle 6">
            <a:extLst>
              <a:ext uri="{FF2B5EF4-FFF2-40B4-BE49-F238E27FC236}">
                <a16:creationId xmlns:a16="http://schemas.microsoft.com/office/drawing/2014/main" id="{532F713E-C12C-5202-2362-61FCD72D9A59}"/>
              </a:ext>
            </a:extLst>
          </p:cNvPr>
          <p:cNvSpPr/>
          <p:nvPr/>
        </p:nvSpPr>
        <p:spPr>
          <a:xfrm>
            <a:off x="3371088" y="1918715"/>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Application</a:t>
            </a:r>
          </a:p>
        </p:txBody>
      </p:sp>
      <p:sp>
        <p:nvSpPr>
          <p:cNvPr id="8" name="Rectangle 7">
            <a:extLst>
              <a:ext uri="{FF2B5EF4-FFF2-40B4-BE49-F238E27FC236}">
                <a16:creationId xmlns:a16="http://schemas.microsoft.com/office/drawing/2014/main" id="{6AC5B90B-7EC0-67F7-E139-032F31F1AF61}"/>
              </a:ext>
            </a:extLst>
          </p:cNvPr>
          <p:cNvSpPr/>
          <p:nvPr/>
        </p:nvSpPr>
        <p:spPr>
          <a:xfrm>
            <a:off x="5471160" y="4102608"/>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Prometheus</a:t>
            </a:r>
          </a:p>
        </p:txBody>
      </p:sp>
      <p:sp>
        <p:nvSpPr>
          <p:cNvPr id="9" name="Rectangle 8">
            <a:extLst>
              <a:ext uri="{FF2B5EF4-FFF2-40B4-BE49-F238E27FC236}">
                <a16:creationId xmlns:a16="http://schemas.microsoft.com/office/drawing/2014/main" id="{80ABA326-5F47-6872-F200-962549D6DD6D}"/>
              </a:ext>
            </a:extLst>
          </p:cNvPr>
          <p:cNvSpPr/>
          <p:nvPr/>
        </p:nvSpPr>
        <p:spPr>
          <a:xfrm>
            <a:off x="2997708" y="4102608"/>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Grafana</a:t>
            </a:r>
          </a:p>
        </p:txBody>
      </p:sp>
      <p:sp>
        <p:nvSpPr>
          <p:cNvPr id="10" name="Rectangle 9">
            <a:extLst>
              <a:ext uri="{FF2B5EF4-FFF2-40B4-BE49-F238E27FC236}">
                <a16:creationId xmlns:a16="http://schemas.microsoft.com/office/drawing/2014/main" id="{CC3CCCC2-8D72-7573-11EB-907B1C2E6AE9}"/>
              </a:ext>
            </a:extLst>
          </p:cNvPr>
          <p:cNvSpPr/>
          <p:nvPr/>
        </p:nvSpPr>
        <p:spPr>
          <a:xfrm>
            <a:off x="7665720" y="1816607"/>
            <a:ext cx="1545336" cy="107289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Push image to the Container registry </a:t>
            </a:r>
          </a:p>
        </p:txBody>
      </p:sp>
      <p:sp>
        <p:nvSpPr>
          <p:cNvPr id="11" name="Rectangle 10">
            <a:extLst>
              <a:ext uri="{FF2B5EF4-FFF2-40B4-BE49-F238E27FC236}">
                <a16:creationId xmlns:a16="http://schemas.microsoft.com/office/drawing/2014/main" id="{813F4688-36A6-17B3-6603-C345B7FD7DAE}"/>
              </a:ext>
            </a:extLst>
          </p:cNvPr>
          <p:cNvSpPr/>
          <p:nvPr/>
        </p:nvSpPr>
        <p:spPr>
          <a:xfrm>
            <a:off x="7667244" y="4087369"/>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Deploying to the K8</a:t>
            </a:r>
          </a:p>
        </p:txBody>
      </p:sp>
      <p:cxnSp>
        <p:nvCxnSpPr>
          <p:cNvPr id="16" name="Straight Arrow Connector 15">
            <a:extLst>
              <a:ext uri="{FF2B5EF4-FFF2-40B4-BE49-F238E27FC236}">
                <a16:creationId xmlns:a16="http://schemas.microsoft.com/office/drawing/2014/main" id="{6C7A9A09-7499-50B5-B0CD-D68D5658D664}"/>
              </a:ext>
            </a:extLst>
          </p:cNvPr>
          <p:cNvCxnSpPr>
            <a:cxnSpLocks/>
            <a:stCxn id="7" idx="3"/>
            <a:endCxn id="6" idx="1"/>
          </p:cNvCxnSpPr>
          <p:nvPr/>
        </p:nvCxnSpPr>
        <p:spPr>
          <a:xfrm>
            <a:off x="4916424" y="2353055"/>
            <a:ext cx="554736" cy="1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69F1F20-7649-024B-1645-AB13D1AEE486}"/>
              </a:ext>
            </a:extLst>
          </p:cNvPr>
          <p:cNvCxnSpPr>
            <a:cxnSpLocks/>
            <a:stCxn id="6" idx="3"/>
            <a:endCxn id="10" idx="1"/>
          </p:cNvCxnSpPr>
          <p:nvPr/>
        </p:nvCxnSpPr>
        <p:spPr>
          <a:xfrm flipV="1">
            <a:off x="7296912" y="2353056"/>
            <a:ext cx="368808" cy="15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8A41A3C-3C37-A1EE-B43C-7EBD881FD482}"/>
              </a:ext>
            </a:extLst>
          </p:cNvPr>
          <p:cNvCxnSpPr>
            <a:cxnSpLocks/>
            <a:stCxn id="10" idx="2"/>
            <a:endCxn id="11" idx="0"/>
          </p:cNvCxnSpPr>
          <p:nvPr/>
        </p:nvCxnSpPr>
        <p:spPr>
          <a:xfrm>
            <a:off x="8438388" y="2889504"/>
            <a:ext cx="1524" cy="1197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CE7E4ADF-271D-EEBB-6EE2-58680B3594B2}"/>
              </a:ext>
            </a:extLst>
          </p:cNvPr>
          <p:cNvSpPr txBox="1"/>
          <p:nvPr/>
        </p:nvSpPr>
        <p:spPr>
          <a:xfrm>
            <a:off x="9354312" y="4087369"/>
            <a:ext cx="1783080" cy="1477328"/>
          </a:xfrm>
          <a:prstGeom prst="rect">
            <a:avLst/>
          </a:prstGeom>
          <a:noFill/>
        </p:spPr>
        <p:txBody>
          <a:bodyPr wrap="square" rtlCol="0">
            <a:spAutoFit/>
          </a:bodyPr>
          <a:lstStyle/>
          <a:p>
            <a:r>
              <a:rPr lang="en-IN" dirty="0"/>
              <a:t>K8 Pull the latest image from the Container registry </a:t>
            </a:r>
          </a:p>
        </p:txBody>
      </p:sp>
      <p:cxnSp>
        <p:nvCxnSpPr>
          <p:cNvPr id="25" name="Straight Arrow Connector 24">
            <a:extLst>
              <a:ext uri="{FF2B5EF4-FFF2-40B4-BE49-F238E27FC236}">
                <a16:creationId xmlns:a16="http://schemas.microsoft.com/office/drawing/2014/main" id="{261D3FEA-83F2-5F77-CC69-E9ABBCFC9801}"/>
              </a:ext>
            </a:extLst>
          </p:cNvPr>
          <p:cNvCxnSpPr>
            <a:stCxn id="11" idx="1"/>
            <a:endCxn id="8" idx="3"/>
          </p:cNvCxnSpPr>
          <p:nvPr/>
        </p:nvCxnSpPr>
        <p:spPr>
          <a:xfrm flipH="1">
            <a:off x="7016496" y="4521709"/>
            <a:ext cx="650748" cy="152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6CCD167-270E-905C-09BD-048E248F0756}"/>
              </a:ext>
            </a:extLst>
          </p:cNvPr>
          <p:cNvCxnSpPr>
            <a:stCxn id="8" idx="1"/>
            <a:endCxn id="9" idx="3"/>
          </p:cNvCxnSpPr>
          <p:nvPr/>
        </p:nvCxnSpPr>
        <p:spPr>
          <a:xfrm flipH="1">
            <a:off x="4543044" y="4536948"/>
            <a:ext cx="9281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4EEEE9C5-6FFB-363A-3668-5BA8B626F083}"/>
              </a:ext>
            </a:extLst>
          </p:cNvPr>
          <p:cNvSpPr/>
          <p:nvPr/>
        </p:nvSpPr>
        <p:spPr>
          <a:xfrm>
            <a:off x="1025652" y="4102608"/>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Alert Manager</a:t>
            </a:r>
          </a:p>
        </p:txBody>
      </p:sp>
      <p:cxnSp>
        <p:nvCxnSpPr>
          <p:cNvPr id="34" name="Straight Arrow Connector 33">
            <a:extLst>
              <a:ext uri="{FF2B5EF4-FFF2-40B4-BE49-F238E27FC236}">
                <a16:creationId xmlns:a16="http://schemas.microsoft.com/office/drawing/2014/main" id="{AED7FF6D-882E-6396-E5EA-C14F489A1CCA}"/>
              </a:ext>
            </a:extLst>
          </p:cNvPr>
          <p:cNvCxnSpPr>
            <a:stCxn id="9" idx="1"/>
            <a:endCxn id="32" idx="3"/>
          </p:cNvCxnSpPr>
          <p:nvPr/>
        </p:nvCxnSpPr>
        <p:spPr>
          <a:xfrm flipH="1">
            <a:off x="2570988" y="4536948"/>
            <a:ext cx="4267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CBA93320-02F8-AB82-4B03-555D4D81F926}"/>
              </a:ext>
            </a:extLst>
          </p:cNvPr>
          <p:cNvSpPr/>
          <p:nvPr/>
        </p:nvSpPr>
        <p:spPr>
          <a:xfrm>
            <a:off x="1825752" y="1943100"/>
            <a:ext cx="1338072" cy="8260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SonarQube</a:t>
            </a:r>
          </a:p>
        </p:txBody>
      </p:sp>
      <p:cxnSp>
        <p:nvCxnSpPr>
          <p:cNvPr id="44" name="Straight Arrow Connector 43">
            <a:extLst>
              <a:ext uri="{FF2B5EF4-FFF2-40B4-BE49-F238E27FC236}">
                <a16:creationId xmlns:a16="http://schemas.microsoft.com/office/drawing/2014/main" id="{71802F67-8562-DA70-7355-EEEBB5DD9773}"/>
              </a:ext>
            </a:extLst>
          </p:cNvPr>
          <p:cNvCxnSpPr>
            <a:stCxn id="5" idx="3"/>
            <a:endCxn id="42" idx="1"/>
          </p:cNvCxnSpPr>
          <p:nvPr/>
        </p:nvCxnSpPr>
        <p:spPr>
          <a:xfrm flipV="1">
            <a:off x="1618488" y="2356104"/>
            <a:ext cx="207264" cy="76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3D531C1D-64B7-5B83-DED8-2A920CE722FB}"/>
              </a:ext>
            </a:extLst>
          </p:cNvPr>
          <p:cNvCxnSpPr>
            <a:stCxn id="42" idx="3"/>
            <a:endCxn id="7" idx="1"/>
          </p:cNvCxnSpPr>
          <p:nvPr/>
        </p:nvCxnSpPr>
        <p:spPr>
          <a:xfrm flipV="1">
            <a:off x="3163824" y="2353055"/>
            <a:ext cx="207264" cy="30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64781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CA3574A-8D59-4B30-EBB9-356A0709CB8E}"/>
              </a:ext>
            </a:extLst>
          </p:cNvPr>
          <p:cNvSpPr>
            <a:spLocks noGrp="1"/>
          </p:cNvSpPr>
          <p:nvPr>
            <p:ph idx="1"/>
          </p:nvPr>
        </p:nvSpPr>
        <p:spPr>
          <a:xfrm>
            <a:off x="659046" y="926149"/>
            <a:ext cx="8596668" cy="3880773"/>
          </a:xfrm>
        </p:spPr>
        <p:txBody>
          <a:bodyPr/>
          <a:lstStyle/>
          <a:p>
            <a:r>
              <a:rPr lang="en-IN" dirty="0"/>
              <a:t>Interview Question on CICD :- </a:t>
            </a:r>
            <a:br>
              <a:rPr lang="en-IN" dirty="0"/>
            </a:br>
            <a:br>
              <a:rPr lang="en-IN" dirty="0"/>
            </a:br>
            <a:r>
              <a:rPr lang="en-IN" dirty="0"/>
              <a:t>1. what is your  CI/CD Flow :-</a:t>
            </a:r>
            <a:br>
              <a:rPr lang="en-IN" dirty="0"/>
            </a:br>
            <a:br>
              <a:rPr lang="en-IN" dirty="0"/>
            </a:br>
            <a:r>
              <a:rPr lang="en-IN" dirty="0"/>
              <a:t>2. In which step you have integrated your test cases as well. :- the tool which we used is SonarQube and its integrated before our build application.</a:t>
            </a:r>
            <a:br>
              <a:rPr lang="en-IN" dirty="0"/>
            </a:br>
            <a:br>
              <a:rPr lang="en-IN" dirty="0"/>
            </a:br>
            <a:r>
              <a:rPr lang="en-IN" dirty="0"/>
              <a:t>3. which model you follow continuous Delivery or continuous Deployment.</a:t>
            </a:r>
          </a:p>
        </p:txBody>
      </p:sp>
    </p:spTree>
    <p:extLst>
      <p:ext uri="{BB962C8B-B14F-4D97-AF65-F5344CB8AC3E}">
        <p14:creationId xmlns:p14="http://schemas.microsoft.com/office/powerpoint/2010/main" val="38587046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980622F-BC0E-4490-3A93-0C111303019A}"/>
              </a:ext>
            </a:extLst>
          </p:cNvPr>
          <p:cNvSpPr txBox="1"/>
          <p:nvPr/>
        </p:nvSpPr>
        <p:spPr>
          <a:xfrm>
            <a:off x="571500" y="190762"/>
            <a:ext cx="8069580" cy="3016210"/>
          </a:xfrm>
          <a:prstGeom prst="rect">
            <a:avLst/>
          </a:prstGeom>
          <a:noFill/>
        </p:spPr>
        <p:txBody>
          <a:bodyPr wrap="square">
            <a:spAutoFit/>
          </a:bodyPr>
          <a:lstStyle/>
          <a:p>
            <a:r>
              <a:rPr lang="en-IN" b="1" dirty="0"/>
              <a:t>                                                                    </a:t>
            </a:r>
            <a:r>
              <a:rPr lang="en-IN" sz="2800" b="1" dirty="0"/>
              <a:t>Jenkins</a:t>
            </a:r>
            <a:br>
              <a:rPr lang="en-IN" b="1" dirty="0"/>
            </a:br>
            <a:br>
              <a:rPr lang="en-IN" b="1" dirty="0"/>
            </a:br>
            <a:r>
              <a:rPr lang="en-US" b="1" dirty="0"/>
              <a:t>What is Jenkins?</a:t>
            </a:r>
          </a:p>
          <a:p>
            <a:r>
              <a:rPr lang="en-US" dirty="0"/>
              <a:t>Jenkins is an </a:t>
            </a:r>
            <a:r>
              <a:rPr lang="en-US" b="1" dirty="0"/>
              <a:t>automation server</a:t>
            </a:r>
            <a:r>
              <a:rPr lang="en-US" dirty="0"/>
              <a:t> used to:</a:t>
            </a:r>
          </a:p>
          <a:p>
            <a:r>
              <a:rPr lang="en-US" dirty="0"/>
              <a:t>Build applications </a:t>
            </a:r>
          </a:p>
          <a:p>
            <a:r>
              <a:rPr lang="en-US" dirty="0"/>
              <a:t>Run tests </a:t>
            </a:r>
          </a:p>
          <a:p>
            <a:r>
              <a:rPr lang="en-US" dirty="0"/>
              <a:t>Deploy applications </a:t>
            </a:r>
          </a:p>
          <a:p>
            <a:r>
              <a:rPr lang="en-US" dirty="0"/>
              <a:t>👉 In short:</a:t>
            </a:r>
            <a:br>
              <a:rPr lang="en-US" dirty="0"/>
            </a:br>
            <a:r>
              <a:rPr lang="en-US" b="1" dirty="0"/>
              <a:t>“Jenkins automates the DevOps pipeline.</a:t>
            </a:r>
            <a:endParaRPr lang="en-US" dirty="0"/>
          </a:p>
          <a:p>
            <a:pPr>
              <a:buNone/>
            </a:pPr>
            <a:endParaRPr lang="en-IN" dirty="0"/>
          </a:p>
        </p:txBody>
      </p:sp>
      <p:sp>
        <p:nvSpPr>
          <p:cNvPr id="6" name="TextBox 5">
            <a:extLst>
              <a:ext uri="{FF2B5EF4-FFF2-40B4-BE49-F238E27FC236}">
                <a16:creationId xmlns:a16="http://schemas.microsoft.com/office/drawing/2014/main" id="{B746817A-55C5-1998-0F8D-17138958925D}"/>
              </a:ext>
            </a:extLst>
          </p:cNvPr>
          <p:cNvSpPr txBox="1"/>
          <p:nvPr/>
        </p:nvSpPr>
        <p:spPr>
          <a:xfrm>
            <a:off x="571500" y="2773866"/>
            <a:ext cx="7210044" cy="1754326"/>
          </a:xfrm>
          <a:prstGeom prst="rect">
            <a:avLst/>
          </a:prstGeom>
          <a:noFill/>
        </p:spPr>
        <p:txBody>
          <a:bodyPr wrap="square">
            <a:spAutoFit/>
          </a:bodyPr>
          <a:lstStyle/>
          <a:p>
            <a:pPr>
              <a:buNone/>
            </a:pPr>
            <a:br>
              <a:rPr lang="en-US" b="1" dirty="0"/>
            </a:br>
            <a:r>
              <a:rPr lang="en-US" b="1" dirty="0"/>
              <a:t>Why Jenkins?</a:t>
            </a:r>
          </a:p>
          <a:p>
            <a:pPr>
              <a:buFont typeface="Arial" panose="020B0604020202020204" pitchFamily="34" charset="0"/>
              <a:buChar char="•"/>
            </a:pPr>
            <a:r>
              <a:rPr lang="en-US" dirty="0"/>
              <a:t>Automates repetitive tasks  </a:t>
            </a:r>
          </a:p>
          <a:p>
            <a:pPr>
              <a:buFont typeface="Arial" panose="020B0604020202020204" pitchFamily="34" charset="0"/>
              <a:buChar char="•"/>
            </a:pPr>
            <a:r>
              <a:rPr lang="en-US" dirty="0"/>
              <a:t>Faster delivery </a:t>
            </a:r>
          </a:p>
          <a:p>
            <a:pPr>
              <a:buFont typeface="Arial" panose="020B0604020202020204" pitchFamily="34" charset="0"/>
              <a:buChar char="•"/>
            </a:pPr>
            <a:r>
              <a:rPr lang="en-US" dirty="0"/>
              <a:t>Reduces manual errors </a:t>
            </a:r>
          </a:p>
          <a:p>
            <a:pPr>
              <a:buFont typeface="Arial" panose="020B0604020202020204" pitchFamily="34" charset="0"/>
              <a:buChar char="•"/>
            </a:pPr>
            <a:r>
              <a:rPr lang="en-US" dirty="0"/>
              <a:t>Continuous Integration &amp; Deployment</a:t>
            </a:r>
          </a:p>
        </p:txBody>
      </p:sp>
    </p:spTree>
    <p:extLst>
      <p:ext uri="{BB962C8B-B14F-4D97-AF65-F5344CB8AC3E}">
        <p14:creationId xmlns:p14="http://schemas.microsoft.com/office/powerpoint/2010/main" val="41567027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6CE3CC-68B0-CEF3-1292-8531FBAA80D0}"/>
              </a:ext>
            </a:extLst>
          </p:cNvPr>
          <p:cNvPicPr>
            <a:picLocks noChangeAspect="1"/>
          </p:cNvPicPr>
          <p:nvPr/>
        </p:nvPicPr>
        <p:blipFill>
          <a:blip r:embed="rId2"/>
          <a:stretch>
            <a:fillRect/>
          </a:stretch>
        </p:blipFill>
        <p:spPr>
          <a:xfrm>
            <a:off x="710757" y="1021551"/>
            <a:ext cx="10609515" cy="2033807"/>
          </a:xfrm>
          <a:prstGeom prst="rect">
            <a:avLst/>
          </a:prstGeom>
        </p:spPr>
      </p:pic>
      <p:sp>
        <p:nvSpPr>
          <p:cNvPr id="5" name="Rectangle 4">
            <a:extLst>
              <a:ext uri="{FF2B5EF4-FFF2-40B4-BE49-F238E27FC236}">
                <a16:creationId xmlns:a16="http://schemas.microsoft.com/office/drawing/2014/main" id="{87CF9EA5-A7D6-CF88-C367-A28091C0EE54}"/>
              </a:ext>
            </a:extLst>
          </p:cNvPr>
          <p:cNvSpPr/>
          <p:nvPr/>
        </p:nvSpPr>
        <p:spPr>
          <a:xfrm>
            <a:off x="1408176" y="3767328"/>
            <a:ext cx="2468880" cy="886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Git checkout step</a:t>
            </a:r>
          </a:p>
        </p:txBody>
      </p:sp>
      <p:cxnSp>
        <p:nvCxnSpPr>
          <p:cNvPr id="7" name="Straight Arrow Connector 6">
            <a:extLst>
              <a:ext uri="{FF2B5EF4-FFF2-40B4-BE49-F238E27FC236}">
                <a16:creationId xmlns:a16="http://schemas.microsoft.com/office/drawing/2014/main" id="{2A691F71-911C-BE16-1010-7A9A105BBB70}"/>
              </a:ext>
            </a:extLst>
          </p:cNvPr>
          <p:cNvCxnSpPr>
            <a:stCxn id="5" idx="0"/>
          </p:cNvCxnSpPr>
          <p:nvPr/>
        </p:nvCxnSpPr>
        <p:spPr>
          <a:xfrm flipV="1">
            <a:off x="2642616" y="3055358"/>
            <a:ext cx="9144" cy="7119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ED6A2CD1-07BB-9EF7-C411-5BC7B5140E99}"/>
              </a:ext>
            </a:extLst>
          </p:cNvPr>
          <p:cNvSpPr/>
          <p:nvPr/>
        </p:nvSpPr>
        <p:spPr>
          <a:xfrm>
            <a:off x="2862072" y="5029200"/>
            <a:ext cx="1609344" cy="15270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Application step : War file is creating </a:t>
            </a:r>
          </a:p>
        </p:txBody>
      </p:sp>
      <p:cxnSp>
        <p:nvCxnSpPr>
          <p:cNvPr id="10" name="Straight Arrow Connector 9">
            <a:extLst>
              <a:ext uri="{FF2B5EF4-FFF2-40B4-BE49-F238E27FC236}">
                <a16:creationId xmlns:a16="http://schemas.microsoft.com/office/drawing/2014/main" id="{7160D071-D0F9-4484-8E78-334016E5CB8D}"/>
              </a:ext>
            </a:extLst>
          </p:cNvPr>
          <p:cNvCxnSpPr>
            <a:cxnSpLocks/>
            <a:stCxn id="8" idx="0"/>
          </p:cNvCxnSpPr>
          <p:nvPr/>
        </p:nvCxnSpPr>
        <p:spPr>
          <a:xfrm flipH="1" flipV="1">
            <a:off x="3648456" y="3055358"/>
            <a:ext cx="18288" cy="19738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04D6B0DC-E865-45F0-0A4F-AF2CC3EF3F9F}"/>
              </a:ext>
            </a:extLst>
          </p:cNvPr>
          <p:cNvSpPr/>
          <p:nvPr/>
        </p:nvSpPr>
        <p:spPr>
          <a:xfrm>
            <a:off x="7104888" y="4791456"/>
            <a:ext cx="1664208" cy="173609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In this step image is getting created docker image </a:t>
            </a:r>
          </a:p>
        </p:txBody>
      </p:sp>
      <p:cxnSp>
        <p:nvCxnSpPr>
          <p:cNvPr id="14" name="Straight Arrow Connector 13">
            <a:extLst>
              <a:ext uri="{FF2B5EF4-FFF2-40B4-BE49-F238E27FC236}">
                <a16:creationId xmlns:a16="http://schemas.microsoft.com/office/drawing/2014/main" id="{21D34DE0-6CA2-5E5B-11E1-6ACA7BD80135}"/>
              </a:ext>
            </a:extLst>
          </p:cNvPr>
          <p:cNvCxnSpPr>
            <a:cxnSpLocks/>
            <a:stCxn id="12" idx="0"/>
          </p:cNvCxnSpPr>
          <p:nvPr/>
        </p:nvCxnSpPr>
        <p:spPr>
          <a:xfrm flipV="1">
            <a:off x="7936992" y="3055358"/>
            <a:ext cx="0" cy="17360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76D764D0-10BC-E040-E861-9EB5471C7725}"/>
              </a:ext>
            </a:extLst>
          </p:cNvPr>
          <p:cNvSpPr/>
          <p:nvPr/>
        </p:nvSpPr>
        <p:spPr>
          <a:xfrm>
            <a:off x="8979408" y="4818888"/>
            <a:ext cx="2295144" cy="192938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In this step we are pushing our image to the container registry</a:t>
            </a:r>
          </a:p>
        </p:txBody>
      </p:sp>
      <p:cxnSp>
        <p:nvCxnSpPr>
          <p:cNvPr id="22" name="Straight Arrow Connector 21">
            <a:extLst>
              <a:ext uri="{FF2B5EF4-FFF2-40B4-BE49-F238E27FC236}">
                <a16:creationId xmlns:a16="http://schemas.microsoft.com/office/drawing/2014/main" id="{FC8F1417-104A-F5BF-3D3D-4FE45CB55961}"/>
              </a:ext>
            </a:extLst>
          </p:cNvPr>
          <p:cNvCxnSpPr>
            <a:stCxn id="16" idx="0"/>
          </p:cNvCxnSpPr>
          <p:nvPr/>
        </p:nvCxnSpPr>
        <p:spPr>
          <a:xfrm flipH="1" flipV="1">
            <a:off x="10058400" y="3055358"/>
            <a:ext cx="68580" cy="17635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305D1FCA-4D8D-B180-4E1E-8300591880BE}"/>
              </a:ext>
            </a:extLst>
          </p:cNvPr>
          <p:cNvSpPr/>
          <p:nvPr/>
        </p:nvSpPr>
        <p:spPr>
          <a:xfrm>
            <a:off x="905256" y="146304"/>
            <a:ext cx="6958584" cy="3840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err="1">
                <a:solidFill>
                  <a:schemeClr val="tx1"/>
                </a:solidFill>
              </a:rPr>
              <a:t>Continous</a:t>
            </a:r>
            <a:r>
              <a:rPr lang="en-IN" dirty="0">
                <a:solidFill>
                  <a:schemeClr val="tx1"/>
                </a:solidFill>
              </a:rPr>
              <a:t> Integration Part of Jenkins</a:t>
            </a:r>
          </a:p>
        </p:txBody>
      </p:sp>
    </p:spTree>
    <p:extLst>
      <p:ext uri="{BB962C8B-B14F-4D97-AF65-F5344CB8AC3E}">
        <p14:creationId xmlns:p14="http://schemas.microsoft.com/office/powerpoint/2010/main" val="24841344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582203B-DBAE-0D5A-5405-1DD01FE51610}"/>
              </a:ext>
            </a:extLst>
          </p:cNvPr>
          <p:cNvSpPr txBox="1"/>
          <p:nvPr/>
        </p:nvSpPr>
        <p:spPr>
          <a:xfrm>
            <a:off x="3046476" y="158234"/>
            <a:ext cx="6099048" cy="523220"/>
          </a:xfrm>
          <a:prstGeom prst="rect">
            <a:avLst/>
          </a:prstGeom>
          <a:noFill/>
        </p:spPr>
        <p:txBody>
          <a:bodyPr wrap="square">
            <a:spAutoFit/>
          </a:bodyPr>
          <a:lstStyle/>
          <a:p>
            <a:r>
              <a:rPr lang="en-IN" sz="2800" b="1" dirty="0"/>
              <a:t>Jenkins Master Slave Architecture</a:t>
            </a:r>
          </a:p>
        </p:txBody>
      </p:sp>
      <p:sp>
        <p:nvSpPr>
          <p:cNvPr id="8" name="TextBox 7">
            <a:extLst>
              <a:ext uri="{FF2B5EF4-FFF2-40B4-BE49-F238E27FC236}">
                <a16:creationId xmlns:a16="http://schemas.microsoft.com/office/drawing/2014/main" id="{50F111A6-0569-4196-A389-8251F5A50B15}"/>
              </a:ext>
            </a:extLst>
          </p:cNvPr>
          <p:cNvSpPr txBox="1"/>
          <p:nvPr/>
        </p:nvSpPr>
        <p:spPr>
          <a:xfrm>
            <a:off x="845820" y="926098"/>
            <a:ext cx="6099048" cy="2308324"/>
          </a:xfrm>
          <a:prstGeom prst="rect">
            <a:avLst/>
          </a:prstGeom>
          <a:noFill/>
        </p:spPr>
        <p:txBody>
          <a:bodyPr wrap="square">
            <a:spAutoFit/>
          </a:bodyPr>
          <a:lstStyle/>
          <a:p>
            <a:pPr>
              <a:buNone/>
            </a:pPr>
            <a:r>
              <a:rPr lang="en-US" b="1" dirty="0"/>
              <a:t>1. Master (Controller)</a:t>
            </a:r>
          </a:p>
          <a:p>
            <a:pPr>
              <a:buNone/>
            </a:pPr>
            <a:r>
              <a:rPr lang="en-US" dirty="0"/>
              <a:t>👉 The brain of Jenkins</a:t>
            </a:r>
          </a:p>
          <a:p>
            <a:pPr>
              <a:buNone/>
            </a:pPr>
            <a:r>
              <a:rPr lang="en-US" b="1" dirty="0"/>
              <a:t>Responsibilities:</a:t>
            </a:r>
          </a:p>
          <a:p>
            <a:pPr>
              <a:buFont typeface="Arial" panose="020B0604020202020204" pitchFamily="34" charset="0"/>
              <a:buChar char="•"/>
            </a:pPr>
            <a:r>
              <a:rPr lang="en-US" dirty="0"/>
              <a:t>Manage jobs </a:t>
            </a:r>
          </a:p>
          <a:p>
            <a:pPr>
              <a:buFont typeface="Arial" panose="020B0604020202020204" pitchFamily="34" charset="0"/>
              <a:buChar char="•"/>
            </a:pPr>
            <a:r>
              <a:rPr lang="en-US" dirty="0"/>
              <a:t>Schedule builds </a:t>
            </a:r>
          </a:p>
          <a:p>
            <a:pPr>
              <a:buFont typeface="Arial" panose="020B0604020202020204" pitchFamily="34" charset="0"/>
              <a:buChar char="•"/>
            </a:pPr>
            <a:r>
              <a:rPr lang="en-US" dirty="0"/>
              <a:t>Store configuration </a:t>
            </a:r>
          </a:p>
          <a:p>
            <a:pPr>
              <a:buFont typeface="Arial" panose="020B0604020202020204" pitchFamily="34" charset="0"/>
              <a:buChar char="•"/>
            </a:pPr>
            <a:r>
              <a:rPr lang="en-US" dirty="0"/>
              <a:t>Provide UI </a:t>
            </a:r>
          </a:p>
          <a:p>
            <a:pPr>
              <a:buFont typeface="Arial" panose="020B0604020202020204" pitchFamily="34" charset="0"/>
              <a:buChar char="•"/>
            </a:pPr>
            <a:r>
              <a:rPr lang="en-US" dirty="0"/>
              <a:t>Assign work to agents</a:t>
            </a:r>
          </a:p>
        </p:txBody>
      </p:sp>
      <p:sp>
        <p:nvSpPr>
          <p:cNvPr id="10" name="TextBox 9">
            <a:extLst>
              <a:ext uri="{FF2B5EF4-FFF2-40B4-BE49-F238E27FC236}">
                <a16:creationId xmlns:a16="http://schemas.microsoft.com/office/drawing/2014/main" id="{5996A07B-4A92-1BE4-FDD5-4DBAACD2E01A}"/>
              </a:ext>
            </a:extLst>
          </p:cNvPr>
          <p:cNvSpPr txBox="1"/>
          <p:nvPr/>
        </p:nvSpPr>
        <p:spPr>
          <a:xfrm>
            <a:off x="845820" y="3623579"/>
            <a:ext cx="6099048" cy="2031325"/>
          </a:xfrm>
          <a:prstGeom prst="rect">
            <a:avLst/>
          </a:prstGeom>
          <a:noFill/>
        </p:spPr>
        <p:txBody>
          <a:bodyPr wrap="square">
            <a:spAutoFit/>
          </a:bodyPr>
          <a:lstStyle/>
          <a:p>
            <a:pPr>
              <a:buNone/>
            </a:pPr>
            <a:r>
              <a:rPr lang="en-US" b="1" dirty="0"/>
              <a:t>2. Slave (Agent)</a:t>
            </a:r>
          </a:p>
          <a:p>
            <a:pPr>
              <a:buNone/>
            </a:pPr>
            <a:r>
              <a:rPr lang="en-US" dirty="0"/>
              <a:t>👉 The worker machine</a:t>
            </a:r>
          </a:p>
          <a:p>
            <a:pPr>
              <a:buNone/>
            </a:pPr>
            <a:r>
              <a:rPr lang="en-US" b="1" dirty="0"/>
              <a:t>Responsibilities:</a:t>
            </a:r>
          </a:p>
          <a:p>
            <a:pPr>
              <a:buFont typeface="Arial" panose="020B0604020202020204" pitchFamily="34" charset="0"/>
              <a:buChar char="•"/>
            </a:pPr>
            <a:r>
              <a:rPr lang="en-US" dirty="0"/>
              <a:t>Execute build jobs </a:t>
            </a:r>
          </a:p>
          <a:p>
            <a:pPr>
              <a:buFont typeface="Arial" panose="020B0604020202020204" pitchFamily="34" charset="0"/>
              <a:buChar char="•"/>
            </a:pPr>
            <a:r>
              <a:rPr lang="en-US" dirty="0"/>
              <a:t>Run scripts (Maven, .NET, etc.) </a:t>
            </a:r>
          </a:p>
          <a:p>
            <a:pPr>
              <a:buFont typeface="Arial" panose="020B0604020202020204" pitchFamily="34" charset="0"/>
              <a:buChar char="•"/>
            </a:pPr>
            <a:r>
              <a:rPr lang="en-US" dirty="0"/>
              <a:t>Perform testing </a:t>
            </a:r>
          </a:p>
          <a:p>
            <a:pPr>
              <a:buFont typeface="Arial" panose="020B0604020202020204" pitchFamily="34" charset="0"/>
              <a:buChar char="•"/>
            </a:pPr>
            <a:r>
              <a:rPr lang="en-US" dirty="0"/>
              <a:t>Deploy applications</a:t>
            </a:r>
          </a:p>
        </p:txBody>
      </p:sp>
    </p:spTree>
    <p:extLst>
      <p:ext uri="{BB962C8B-B14F-4D97-AF65-F5344CB8AC3E}">
        <p14:creationId xmlns:p14="http://schemas.microsoft.com/office/powerpoint/2010/main" val="33522185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E8CC18F3-E1FD-A022-858E-DC5ADC932AB0}"/>
              </a:ext>
            </a:extLst>
          </p:cNvPr>
          <p:cNvSpPr>
            <a:spLocks noChangeArrowheads="1"/>
          </p:cNvSpPr>
          <p:nvPr/>
        </p:nvSpPr>
        <p:spPr bwMode="auto">
          <a:xfrm rot="10800000" flipV="1">
            <a:off x="557784" y="172390"/>
            <a:ext cx="12283440" cy="1292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2400" b="0" i="0" u="none" strike="noStrike" cap="none" normalizeH="0" baseline="0" dirty="0">
                <a:ln>
                  <a:noFill/>
                </a:ln>
                <a:solidFill>
                  <a:schemeClr val="tx1"/>
                </a:solidFill>
                <a:effectLst/>
                <a:latin typeface="Arial" panose="020B0604020202020204" pitchFamily="34" charset="0"/>
              </a:rPr>
              <a:t>Jenkins Master Slave Architecture Flow</a:t>
            </a:r>
          </a:p>
          <a:p>
            <a:pPr marL="0" marR="0" lvl="0" indent="0" algn="l" defTabSz="914400" rtl="0" eaLnBrk="0" fontAlgn="base" latinLnBrk="0" hangingPunct="0">
              <a:lnSpc>
                <a:spcPct val="100000"/>
              </a:lnSpc>
              <a:spcBef>
                <a:spcPct val="0"/>
              </a:spcBef>
              <a:spcAft>
                <a:spcPct val="0"/>
              </a:spcAft>
              <a:buClrTx/>
              <a:buSzTx/>
              <a:buFontTx/>
              <a:buNone/>
              <a:tabLst/>
            </a:pPr>
            <a:br>
              <a:rPr lang="en-US" altLang="en-US" dirty="0">
                <a:latin typeface="Arial" panose="020B0604020202020204" pitchFamily="34" charset="0"/>
              </a:rPr>
            </a:br>
            <a:endParaRPr lang="en-US" altLang="en-US" dirty="0">
              <a:latin typeface="Arial" panose="020B0604020202020204" pitchFamily="34" charset="0"/>
            </a:endParaRPr>
          </a:p>
          <a:p>
            <a:pPr lvl="0" defTabSz="914400" eaLnBrk="0" fontAlgn="base" hangingPunct="0">
              <a:spcBef>
                <a:spcPct val="0"/>
              </a:spcBef>
              <a:spcAft>
                <a:spcPct val="0"/>
              </a:spcAft>
            </a:pPr>
            <a:r>
              <a:rPr lang="en-US" altLang="en-US" dirty="0">
                <a:latin typeface="Arial" panose="020B0604020202020204"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3" name="Rectangle 12">
            <a:extLst>
              <a:ext uri="{FF2B5EF4-FFF2-40B4-BE49-F238E27FC236}">
                <a16:creationId xmlns:a16="http://schemas.microsoft.com/office/drawing/2014/main" id="{DEE93777-DBAE-56AE-1EA2-B65C7612215F}"/>
              </a:ext>
            </a:extLst>
          </p:cNvPr>
          <p:cNvSpPr/>
          <p:nvPr/>
        </p:nvSpPr>
        <p:spPr>
          <a:xfrm>
            <a:off x="3974592" y="5980630"/>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Result Sent back to Master</a:t>
            </a:r>
          </a:p>
        </p:txBody>
      </p:sp>
      <p:sp>
        <p:nvSpPr>
          <p:cNvPr id="14" name="Rectangle 13">
            <a:extLst>
              <a:ext uri="{FF2B5EF4-FFF2-40B4-BE49-F238E27FC236}">
                <a16:creationId xmlns:a16="http://schemas.microsoft.com/office/drawing/2014/main" id="{A6BF0224-6E62-5048-D4AA-CBEB5AF2B6E6}"/>
              </a:ext>
            </a:extLst>
          </p:cNvPr>
          <p:cNvSpPr/>
          <p:nvPr/>
        </p:nvSpPr>
        <p:spPr>
          <a:xfrm>
            <a:off x="3974592" y="1290276"/>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Developer push code to the git </a:t>
            </a:r>
          </a:p>
        </p:txBody>
      </p:sp>
      <p:sp>
        <p:nvSpPr>
          <p:cNvPr id="15" name="Rectangle 14">
            <a:extLst>
              <a:ext uri="{FF2B5EF4-FFF2-40B4-BE49-F238E27FC236}">
                <a16:creationId xmlns:a16="http://schemas.microsoft.com/office/drawing/2014/main" id="{41B77E55-DA9D-0E0F-3964-D573EB9C6952}"/>
              </a:ext>
            </a:extLst>
          </p:cNvPr>
          <p:cNvSpPr/>
          <p:nvPr/>
        </p:nvSpPr>
        <p:spPr>
          <a:xfrm>
            <a:off x="3974592" y="2064137"/>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Jenkins Master receives trigger</a:t>
            </a:r>
          </a:p>
        </p:txBody>
      </p:sp>
      <p:sp>
        <p:nvSpPr>
          <p:cNvPr id="16" name="Rectangle 15">
            <a:extLst>
              <a:ext uri="{FF2B5EF4-FFF2-40B4-BE49-F238E27FC236}">
                <a16:creationId xmlns:a16="http://schemas.microsoft.com/office/drawing/2014/main" id="{EAF12715-1A01-EAFF-6A8A-1E6B3718D262}"/>
              </a:ext>
            </a:extLst>
          </p:cNvPr>
          <p:cNvSpPr/>
          <p:nvPr/>
        </p:nvSpPr>
        <p:spPr>
          <a:xfrm>
            <a:off x="3974592" y="2732589"/>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Agent Executes</a:t>
            </a:r>
          </a:p>
        </p:txBody>
      </p:sp>
      <p:sp>
        <p:nvSpPr>
          <p:cNvPr id="17" name="Rectangle 16">
            <a:extLst>
              <a:ext uri="{FF2B5EF4-FFF2-40B4-BE49-F238E27FC236}">
                <a16:creationId xmlns:a16="http://schemas.microsoft.com/office/drawing/2014/main" id="{DA7A264A-B04A-AFBD-CD1A-34E789F8B243}"/>
              </a:ext>
            </a:extLst>
          </p:cNvPr>
          <p:cNvSpPr/>
          <p:nvPr/>
        </p:nvSpPr>
        <p:spPr>
          <a:xfrm>
            <a:off x="3974592" y="3469551"/>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Build </a:t>
            </a:r>
          </a:p>
        </p:txBody>
      </p:sp>
      <p:sp>
        <p:nvSpPr>
          <p:cNvPr id="18" name="Rectangle 17">
            <a:extLst>
              <a:ext uri="{FF2B5EF4-FFF2-40B4-BE49-F238E27FC236}">
                <a16:creationId xmlns:a16="http://schemas.microsoft.com/office/drawing/2014/main" id="{70B78F73-DC28-6470-0238-2FA810EABBF0}"/>
              </a:ext>
            </a:extLst>
          </p:cNvPr>
          <p:cNvSpPr/>
          <p:nvPr/>
        </p:nvSpPr>
        <p:spPr>
          <a:xfrm>
            <a:off x="3974592" y="4127391"/>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Test</a:t>
            </a:r>
          </a:p>
        </p:txBody>
      </p:sp>
      <p:sp>
        <p:nvSpPr>
          <p:cNvPr id="19" name="Rectangle 18">
            <a:extLst>
              <a:ext uri="{FF2B5EF4-FFF2-40B4-BE49-F238E27FC236}">
                <a16:creationId xmlns:a16="http://schemas.microsoft.com/office/drawing/2014/main" id="{E5D599A8-3985-CCFF-6D68-FBAFC6E9B896}"/>
              </a:ext>
            </a:extLst>
          </p:cNvPr>
          <p:cNvSpPr/>
          <p:nvPr/>
        </p:nvSpPr>
        <p:spPr>
          <a:xfrm>
            <a:off x="3974592" y="5074434"/>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Deployment </a:t>
            </a:r>
          </a:p>
        </p:txBody>
      </p:sp>
      <p:cxnSp>
        <p:nvCxnSpPr>
          <p:cNvPr id="21" name="Straight Arrow Connector 20">
            <a:extLst>
              <a:ext uri="{FF2B5EF4-FFF2-40B4-BE49-F238E27FC236}">
                <a16:creationId xmlns:a16="http://schemas.microsoft.com/office/drawing/2014/main" id="{8D7F5A52-E39C-07A7-1524-6D771DDF6747}"/>
              </a:ext>
            </a:extLst>
          </p:cNvPr>
          <p:cNvCxnSpPr>
            <a:stCxn id="14" idx="2"/>
            <a:endCxn id="15" idx="0"/>
          </p:cNvCxnSpPr>
          <p:nvPr/>
        </p:nvCxnSpPr>
        <p:spPr>
          <a:xfrm>
            <a:off x="5858256" y="1765764"/>
            <a:ext cx="0" cy="2983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94D6D7D-9C4B-8283-6DF5-C4BC7F91F965}"/>
              </a:ext>
            </a:extLst>
          </p:cNvPr>
          <p:cNvCxnSpPr>
            <a:stCxn id="15" idx="2"/>
            <a:endCxn id="16" idx="0"/>
          </p:cNvCxnSpPr>
          <p:nvPr/>
        </p:nvCxnSpPr>
        <p:spPr>
          <a:xfrm>
            <a:off x="5858256" y="2539625"/>
            <a:ext cx="0" cy="1929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2519399-4E29-00FE-0654-F8DC32664998}"/>
              </a:ext>
            </a:extLst>
          </p:cNvPr>
          <p:cNvCxnSpPr>
            <a:stCxn id="16" idx="2"/>
            <a:endCxn id="17" idx="0"/>
          </p:cNvCxnSpPr>
          <p:nvPr/>
        </p:nvCxnSpPr>
        <p:spPr>
          <a:xfrm>
            <a:off x="5858256" y="3208077"/>
            <a:ext cx="0" cy="2614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1EFC7B1-B73D-5ACD-E690-84B25C49FB6A}"/>
              </a:ext>
            </a:extLst>
          </p:cNvPr>
          <p:cNvCxnSpPr>
            <a:stCxn id="17" idx="2"/>
            <a:endCxn id="18" idx="0"/>
          </p:cNvCxnSpPr>
          <p:nvPr/>
        </p:nvCxnSpPr>
        <p:spPr>
          <a:xfrm>
            <a:off x="5858256" y="3945039"/>
            <a:ext cx="0" cy="182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F746CB0-0054-E190-4BDA-5A34D6BAFB10}"/>
              </a:ext>
            </a:extLst>
          </p:cNvPr>
          <p:cNvCxnSpPr>
            <a:stCxn id="18" idx="2"/>
            <a:endCxn id="19" idx="0"/>
          </p:cNvCxnSpPr>
          <p:nvPr/>
        </p:nvCxnSpPr>
        <p:spPr>
          <a:xfrm>
            <a:off x="5858256" y="4602879"/>
            <a:ext cx="0" cy="4715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FC25EF3-F976-B7D1-C1B3-170E31C858F2}"/>
              </a:ext>
            </a:extLst>
          </p:cNvPr>
          <p:cNvCxnSpPr>
            <a:stCxn id="19" idx="2"/>
            <a:endCxn id="13" idx="0"/>
          </p:cNvCxnSpPr>
          <p:nvPr/>
        </p:nvCxnSpPr>
        <p:spPr>
          <a:xfrm>
            <a:off x="5858256" y="5549922"/>
            <a:ext cx="0" cy="4307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6967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8E39FD-C270-BC49-D9AE-D66B28597423}"/>
              </a:ext>
            </a:extLst>
          </p:cNvPr>
          <p:cNvSpPr>
            <a:spLocks noGrp="1"/>
          </p:cNvSpPr>
          <p:nvPr>
            <p:ph idx="1"/>
          </p:nvPr>
        </p:nvSpPr>
        <p:spPr>
          <a:xfrm>
            <a:off x="640758" y="377509"/>
            <a:ext cx="9545658" cy="5931851"/>
          </a:xfrm>
        </p:spPr>
        <p:txBody>
          <a:bodyPr>
            <a:noAutofit/>
          </a:bodyPr>
          <a:lstStyle/>
          <a:p>
            <a:r>
              <a:rPr lang="en-IN" sz="1600" dirty="0"/>
              <a:t>Groovy Script format in Jenkins </a:t>
            </a:r>
            <a:br>
              <a:rPr lang="en-IN" sz="1600" dirty="0"/>
            </a:br>
            <a:br>
              <a:rPr lang="en-IN" sz="1600" dirty="0"/>
            </a:br>
            <a:r>
              <a:rPr lang="en-IN" sz="1600" dirty="0"/>
              <a:t>pipeline{</a:t>
            </a:r>
          </a:p>
          <a:p>
            <a:r>
              <a:rPr lang="en-IN" sz="1600" dirty="0"/>
              <a:t>    agent any</a:t>
            </a:r>
          </a:p>
          <a:p>
            <a:r>
              <a:rPr lang="en-IN" sz="1600" dirty="0"/>
              <a:t>    tools{</a:t>
            </a:r>
          </a:p>
          <a:p>
            <a:r>
              <a:rPr lang="en-IN" sz="1600" dirty="0"/>
              <a:t>        </a:t>
            </a:r>
            <a:r>
              <a:rPr lang="en-IN" sz="1600" dirty="0" err="1"/>
              <a:t>jdk</a:t>
            </a:r>
            <a:r>
              <a:rPr lang="en-IN" sz="1600" dirty="0"/>
              <a:t> 'jdk17'</a:t>
            </a:r>
          </a:p>
          <a:p>
            <a:r>
              <a:rPr lang="en-IN" sz="1600" dirty="0"/>
              <a:t>        </a:t>
            </a:r>
            <a:r>
              <a:rPr lang="en-IN" sz="1600" dirty="0" err="1"/>
              <a:t>nodejs</a:t>
            </a:r>
            <a:r>
              <a:rPr lang="en-IN" sz="1600" dirty="0"/>
              <a:t> 'node16'</a:t>
            </a:r>
          </a:p>
          <a:p>
            <a:r>
              <a:rPr lang="en-IN" sz="1600" dirty="0"/>
              <a:t>    }</a:t>
            </a:r>
          </a:p>
          <a:p>
            <a:r>
              <a:rPr lang="en-IN" sz="1600" dirty="0"/>
              <a:t>    environment {</a:t>
            </a:r>
          </a:p>
          <a:p>
            <a:r>
              <a:rPr lang="en-IN" sz="1600" dirty="0"/>
              <a:t>        SCANNER_HOME=tool 'sonar-scanner'</a:t>
            </a:r>
          </a:p>
          <a:p>
            <a:r>
              <a:rPr lang="en-IN" sz="1600" dirty="0"/>
              <a:t>    }</a:t>
            </a:r>
          </a:p>
          <a:p>
            <a:r>
              <a:rPr lang="en-IN" sz="1600" dirty="0"/>
              <a:t>    stages {</a:t>
            </a:r>
          </a:p>
          <a:p>
            <a:r>
              <a:rPr lang="en-IN" sz="1600" dirty="0"/>
              <a:t>        stage('clean workspace'){</a:t>
            </a:r>
          </a:p>
          <a:p>
            <a:r>
              <a:rPr lang="en-IN" sz="1600" dirty="0"/>
              <a:t>            steps{</a:t>
            </a:r>
          </a:p>
          <a:p>
            <a:r>
              <a:rPr lang="en-IN" sz="1600" dirty="0"/>
              <a:t>                </a:t>
            </a:r>
            <a:r>
              <a:rPr lang="en-IN" sz="1600" dirty="0" err="1"/>
              <a:t>cleanWs</a:t>
            </a:r>
            <a:r>
              <a:rPr lang="en-IN" sz="1600" dirty="0"/>
              <a:t>()</a:t>
            </a:r>
          </a:p>
          <a:p>
            <a:r>
              <a:rPr lang="en-IN" sz="1600" dirty="0"/>
              <a:t>            }</a:t>
            </a:r>
          </a:p>
          <a:p>
            <a:r>
              <a:rPr lang="en-IN" sz="1600" dirty="0"/>
              <a:t>   stages { </a:t>
            </a:r>
          </a:p>
          <a:p>
            <a:r>
              <a:rPr lang="en-IN" sz="1600" dirty="0"/>
              <a:t>       stage(‘checkout git code’)</a:t>
            </a:r>
          </a:p>
        </p:txBody>
      </p:sp>
    </p:spTree>
    <p:extLst>
      <p:ext uri="{BB962C8B-B14F-4D97-AF65-F5344CB8AC3E}">
        <p14:creationId xmlns:p14="http://schemas.microsoft.com/office/powerpoint/2010/main" val="6851072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C5A3A0B-282D-39B1-2118-CFF01FFD9FF2}"/>
              </a:ext>
            </a:extLst>
          </p:cNvPr>
          <p:cNvSpPr txBox="1"/>
          <p:nvPr/>
        </p:nvSpPr>
        <p:spPr>
          <a:xfrm>
            <a:off x="903732" y="75938"/>
            <a:ext cx="5426964" cy="400110"/>
          </a:xfrm>
          <a:prstGeom prst="rect">
            <a:avLst/>
          </a:prstGeom>
          <a:noFill/>
        </p:spPr>
        <p:txBody>
          <a:bodyPr wrap="square">
            <a:spAutoFit/>
          </a:bodyPr>
          <a:lstStyle/>
          <a:p>
            <a:r>
              <a:rPr lang="en-IN" sz="2000" dirty="0"/>
              <a:t>Interview Question on Jenkins :- </a:t>
            </a:r>
          </a:p>
        </p:txBody>
      </p:sp>
      <p:sp>
        <p:nvSpPr>
          <p:cNvPr id="6" name="Rectangle 1">
            <a:extLst>
              <a:ext uri="{FF2B5EF4-FFF2-40B4-BE49-F238E27FC236}">
                <a16:creationId xmlns:a16="http://schemas.microsoft.com/office/drawing/2014/main" id="{80FCB1C5-BE82-1BFC-D7EE-312DA33A87D0}"/>
              </a:ext>
            </a:extLst>
          </p:cNvPr>
          <p:cNvSpPr>
            <a:spLocks noChangeArrowheads="1"/>
          </p:cNvSpPr>
          <p:nvPr/>
        </p:nvSpPr>
        <p:spPr bwMode="auto">
          <a:xfrm rot="10800000" flipV="1">
            <a:off x="188976" y="476048"/>
            <a:ext cx="12283440" cy="6463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1800" b="0" i="0" u="none" strike="noStrike" cap="none" normalizeH="0" baseline="0" dirty="0">
                <a:ln>
                  <a:noFill/>
                </a:ln>
                <a:solidFill>
                  <a:schemeClr val="tx1"/>
                </a:solidFill>
                <a:effectLst/>
                <a:latin typeface="Arial" panose="020B0604020202020204" pitchFamily="34" charset="0"/>
              </a:rPr>
              <a:t>1.What is agent in Jenkins :- Agent are the machine on which our Pipeline is run </a:t>
            </a: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it need a platform on </a:t>
            </a:r>
            <a:r>
              <a:rPr lang="en-US" altLang="en-US" dirty="0">
                <a:latin typeface="Arial" panose="020B0604020202020204" pitchFamily="34" charset="0"/>
              </a:rPr>
              <a:t>which it executing the script and run all the required dependencies to </a:t>
            </a:r>
            <a:br>
              <a:rPr lang="en-US" altLang="en-US" dirty="0">
                <a:latin typeface="Arial" panose="020B0604020202020204" pitchFamily="34" charset="0"/>
              </a:rPr>
            </a:br>
            <a:r>
              <a:rPr lang="en-US" altLang="en-US" dirty="0">
                <a:latin typeface="Arial" panose="020B0604020202020204" pitchFamily="34" charset="0"/>
              </a:rPr>
              <a:t>execute that build</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2. what is master slave Architecture and flow.</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3. what is Jenkins file :- Jenkins in which it contains all the instruction what our </a:t>
            </a:r>
            <a:br>
              <a:rPr lang="en-US" altLang="en-US" dirty="0">
                <a:latin typeface="Arial" panose="020B0604020202020204" pitchFamily="34" charset="0"/>
              </a:rPr>
            </a:br>
            <a:r>
              <a:rPr lang="en-US" altLang="en-US" dirty="0">
                <a:latin typeface="Arial" panose="020B0604020202020204" pitchFamily="34" charset="0"/>
              </a:rPr>
              <a:t>pipeline needs to do </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4. what is the language is written in the Jenkins file :- its written in groovy</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5. you want to run the pipeline on any specific agent then how will you do that :- </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6. Jenkins Shared Library and how to use or how to define in your Jenkins file :- </a:t>
            </a:r>
            <a:br>
              <a:rPr lang="en-US" altLang="en-US" dirty="0">
                <a:latin typeface="Arial" panose="020B0604020202020204" pitchFamily="34" charset="0"/>
              </a:rPr>
            </a:br>
            <a:br>
              <a:rPr lang="en-US" altLang="en-US" dirty="0">
                <a:latin typeface="Arial" panose="020B0604020202020204" pitchFamily="34" charset="0"/>
              </a:rPr>
            </a:br>
            <a:r>
              <a:rPr lang="en-IN" dirty="0"/>
              <a:t>@Library('my-shared-library’) _</a:t>
            </a:r>
            <a:br>
              <a:rPr lang="en-IN" dirty="0"/>
            </a:br>
            <a:br>
              <a:rPr lang="en-IN" dirty="0"/>
            </a:br>
            <a:r>
              <a:rPr lang="en-IN" dirty="0"/>
              <a:t>7. </a:t>
            </a:r>
            <a:r>
              <a:rPr lang="en-US" dirty="0"/>
              <a:t>Pipeline Slows Down Over Time (Builds taking more time) — How Will You Fix?</a:t>
            </a:r>
          </a:p>
          <a:p>
            <a:pPr marL="342900" indent="-342900" defTabSz="914400" eaLnBrk="0" fontAlgn="base" hangingPunct="0">
              <a:spcBef>
                <a:spcPct val="0"/>
              </a:spcBef>
              <a:spcAft>
                <a:spcPct val="0"/>
              </a:spcAft>
              <a:buAutoNum type="arabicPeriod"/>
            </a:pPr>
            <a:endParaRPr lang="en-US" dirty="0"/>
          </a:p>
          <a:p>
            <a:pPr defTabSz="914400" eaLnBrk="0" fontAlgn="base" hangingPunct="0">
              <a:spcBef>
                <a:spcPct val="0"/>
              </a:spcBef>
              <a:spcAft>
                <a:spcPct val="0"/>
              </a:spcAft>
            </a:pPr>
            <a:r>
              <a:rPr lang="en-US" dirty="0"/>
              <a:t>8. what is Jenkins Parallel Pipeline. :- we are executing multiple pipeline at a same time </a:t>
            </a:r>
            <a:r>
              <a:rPr lang="en-US" dirty="0" err="1"/>
              <a:t>wheather</a:t>
            </a:r>
            <a:br>
              <a:rPr lang="en-US" dirty="0"/>
            </a:br>
            <a:r>
              <a:rPr lang="en-US" dirty="0"/>
              <a:t>         to execute them in the queue.</a:t>
            </a:r>
          </a:p>
          <a:p>
            <a:pPr defTabSz="914400" eaLnBrk="0" fontAlgn="base" hangingPunct="0">
              <a:spcBef>
                <a:spcPct val="0"/>
              </a:spcBef>
              <a:spcAft>
                <a:spcPct val="0"/>
              </a:spcAft>
            </a:pPr>
            <a:r>
              <a:rPr lang="en-US" dirty="0"/>
              <a:t>9. what if you ci/cd pipeline is slow what steps you can do resolve that issue. </a:t>
            </a:r>
            <a:endParaRPr lang="en-IN"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472401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A90237D-F019-6808-74A8-58E780F13755}"/>
              </a:ext>
            </a:extLst>
          </p:cNvPr>
          <p:cNvSpPr>
            <a:spLocks noGrp="1"/>
          </p:cNvSpPr>
          <p:nvPr>
            <p:ph idx="1"/>
          </p:nvPr>
        </p:nvSpPr>
        <p:spPr>
          <a:xfrm>
            <a:off x="759630" y="651829"/>
            <a:ext cx="8596668" cy="3880773"/>
          </a:xfrm>
        </p:spPr>
        <p:txBody>
          <a:bodyPr/>
          <a:lstStyle/>
          <a:p>
            <a:r>
              <a:rPr lang="en-IN" dirty="0"/>
              <a:t>                                                  SonarQube.</a:t>
            </a:r>
            <a:br>
              <a:rPr lang="en-IN" dirty="0"/>
            </a:br>
            <a:br>
              <a:rPr lang="en-IN" dirty="0"/>
            </a:br>
            <a:r>
              <a:rPr lang="en-IN" dirty="0"/>
              <a:t>SonarQube code analysis tool </a:t>
            </a:r>
            <a:br>
              <a:rPr lang="en-IN" dirty="0"/>
            </a:br>
            <a:br>
              <a:rPr lang="en-IN" dirty="0"/>
            </a:br>
            <a:r>
              <a:rPr lang="en-IN" dirty="0"/>
              <a:t>1. it will test the quality of the code.</a:t>
            </a:r>
            <a:br>
              <a:rPr lang="en-IN" dirty="0"/>
            </a:br>
            <a:r>
              <a:rPr lang="en-IN" dirty="0"/>
              <a:t> </a:t>
            </a:r>
            <a:br>
              <a:rPr lang="en-IN" dirty="0"/>
            </a:br>
            <a:r>
              <a:rPr lang="en-IN" dirty="0"/>
              <a:t>2. it will the vulnerability.</a:t>
            </a:r>
            <a:br>
              <a:rPr lang="en-IN" dirty="0"/>
            </a:br>
            <a:br>
              <a:rPr lang="en-IN" dirty="0"/>
            </a:br>
            <a:r>
              <a:rPr lang="en-IN" dirty="0"/>
              <a:t>3. it will check the repeated lines as well in the code.</a:t>
            </a:r>
            <a:br>
              <a:rPr lang="en-IN" dirty="0"/>
            </a:br>
            <a:br>
              <a:rPr lang="en-IN" dirty="0"/>
            </a:br>
            <a:r>
              <a:rPr lang="en-IN" dirty="0"/>
              <a:t>4. we can also define the quality gates as well in the SonarQube an it will check the what we have provided the gates if code is full that then our pipeline will execute other will face pipeline failed issue.</a:t>
            </a:r>
          </a:p>
        </p:txBody>
      </p:sp>
    </p:spTree>
    <p:extLst>
      <p:ext uri="{BB962C8B-B14F-4D97-AF65-F5344CB8AC3E}">
        <p14:creationId xmlns:p14="http://schemas.microsoft.com/office/powerpoint/2010/main" val="32009239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009F5C18-C9C3-9728-539B-0B1EFB621926}"/>
              </a:ext>
            </a:extLst>
          </p:cNvPr>
          <p:cNvSpPr>
            <a:spLocks noGrp="1"/>
          </p:cNvSpPr>
          <p:nvPr>
            <p:ph idx="1"/>
          </p:nvPr>
        </p:nvSpPr>
        <p:spPr>
          <a:xfrm>
            <a:off x="759630" y="651829"/>
            <a:ext cx="8596668" cy="5730683"/>
          </a:xfrm>
        </p:spPr>
        <p:txBody>
          <a:bodyPr/>
          <a:lstStyle/>
          <a:p>
            <a:r>
              <a:rPr lang="en-IN" dirty="0"/>
              <a:t>                                                  Docker</a:t>
            </a:r>
            <a:br>
              <a:rPr lang="en-IN" dirty="0"/>
            </a:br>
            <a:br>
              <a:rPr lang="en-IN" dirty="0"/>
            </a:br>
            <a:r>
              <a:rPr lang="en-US" b="1" dirty="0"/>
              <a:t>Slide 1: What is Docker?</a:t>
            </a:r>
          </a:p>
          <a:p>
            <a:r>
              <a:rPr lang="en-US" dirty="0"/>
              <a:t>👉 Docker is a </a:t>
            </a:r>
            <a:r>
              <a:rPr lang="en-US" b="1" dirty="0"/>
              <a:t>containerization platform</a:t>
            </a:r>
            <a:endParaRPr lang="en-US" dirty="0"/>
          </a:p>
          <a:p>
            <a:r>
              <a:rPr lang="en-US" dirty="0"/>
              <a:t>👉 It allows you to:</a:t>
            </a:r>
          </a:p>
          <a:p>
            <a:r>
              <a:rPr lang="en-US" dirty="0"/>
              <a:t>Package application + dependencies </a:t>
            </a:r>
          </a:p>
          <a:p>
            <a:r>
              <a:rPr lang="en-US" dirty="0"/>
              <a:t>Run anywhere (same behavior)</a:t>
            </a:r>
          </a:p>
          <a:p>
            <a:br>
              <a:rPr lang="en-IN" dirty="0"/>
            </a:br>
            <a:br>
              <a:rPr lang="en-IN" dirty="0"/>
            </a:br>
            <a:r>
              <a:rPr lang="en-US" dirty="0"/>
              <a:t>👉 “Docker packages your application into a container so it runs the same everywhere.”</a:t>
            </a:r>
          </a:p>
          <a:p>
            <a:r>
              <a:rPr lang="en-US" b="1" dirty="0"/>
              <a:t>Slide 2: Problem Before Docker</a:t>
            </a:r>
          </a:p>
          <a:p>
            <a:r>
              <a:rPr lang="en-US" dirty="0"/>
              <a:t>Works on my machine ❌ </a:t>
            </a:r>
          </a:p>
          <a:p>
            <a:r>
              <a:rPr lang="en-US" dirty="0"/>
              <a:t>Dependency issues </a:t>
            </a:r>
          </a:p>
          <a:p>
            <a:r>
              <a:rPr lang="en-US" dirty="0"/>
              <a:t>Environment mismatch</a:t>
            </a:r>
          </a:p>
          <a:p>
            <a:endParaRPr lang="en-US" dirty="0"/>
          </a:p>
          <a:p>
            <a:endParaRPr lang="en-US" dirty="0"/>
          </a:p>
        </p:txBody>
      </p:sp>
    </p:spTree>
    <p:extLst>
      <p:ext uri="{BB962C8B-B14F-4D97-AF65-F5344CB8AC3E}">
        <p14:creationId xmlns:p14="http://schemas.microsoft.com/office/powerpoint/2010/main" val="18376099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85FFE4F-76A3-35C4-6B3F-3C8D25545518}"/>
              </a:ext>
            </a:extLst>
          </p:cNvPr>
          <p:cNvSpPr txBox="1"/>
          <p:nvPr/>
        </p:nvSpPr>
        <p:spPr>
          <a:xfrm>
            <a:off x="937260" y="602272"/>
            <a:ext cx="8892540" cy="1200329"/>
          </a:xfrm>
          <a:prstGeom prst="rect">
            <a:avLst/>
          </a:prstGeom>
          <a:noFill/>
        </p:spPr>
        <p:txBody>
          <a:bodyPr wrap="square">
            <a:spAutoFit/>
          </a:bodyPr>
          <a:lstStyle/>
          <a:p>
            <a:pPr>
              <a:buNone/>
            </a:pPr>
            <a:r>
              <a:rPr lang="fr-FR" b="1" dirty="0"/>
              <a:t>Solution (Docker)</a:t>
            </a:r>
          </a:p>
          <a:p>
            <a:pPr>
              <a:buFont typeface="Arial" panose="020B0604020202020204" pitchFamily="34" charset="0"/>
              <a:buChar char="•"/>
            </a:pPr>
            <a:r>
              <a:rPr lang="fr-FR" dirty="0"/>
              <a:t>Consistent </a:t>
            </a:r>
            <a:r>
              <a:rPr lang="fr-FR" dirty="0" err="1"/>
              <a:t>environment</a:t>
            </a:r>
            <a:r>
              <a:rPr lang="fr-FR" dirty="0"/>
              <a:t> ✅ </a:t>
            </a:r>
          </a:p>
          <a:p>
            <a:pPr>
              <a:buFont typeface="Arial" panose="020B0604020202020204" pitchFamily="34" charset="0"/>
              <a:buChar char="•"/>
            </a:pPr>
            <a:r>
              <a:rPr lang="fr-FR" dirty="0"/>
              <a:t>Portable </a:t>
            </a:r>
          </a:p>
          <a:p>
            <a:pPr>
              <a:buFont typeface="Arial" panose="020B0604020202020204" pitchFamily="34" charset="0"/>
              <a:buChar char="•"/>
            </a:pPr>
            <a:r>
              <a:rPr lang="fr-FR" dirty="0" err="1"/>
              <a:t>Lightweight</a:t>
            </a:r>
            <a:endParaRPr lang="fr-FR" dirty="0"/>
          </a:p>
        </p:txBody>
      </p:sp>
      <p:graphicFrame>
        <p:nvGraphicFramePr>
          <p:cNvPr id="6" name="Table 5">
            <a:extLst>
              <a:ext uri="{FF2B5EF4-FFF2-40B4-BE49-F238E27FC236}">
                <a16:creationId xmlns:a16="http://schemas.microsoft.com/office/drawing/2014/main" id="{06F28E2A-DA54-1849-1D8E-7AD5F3F8899B}"/>
              </a:ext>
            </a:extLst>
          </p:cNvPr>
          <p:cNvGraphicFramePr>
            <a:graphicFrameLocks noGrp="1"/>
          </p:cNvGraphicFramePr>
          <p:nvPr>
            <p:extLst>
              <p:ext uri="{D42A27DB-BD31-4B8C-83A1-F6EECF244321}">
                <p14:modId xmlns:p14="http://schemas.microsoft.com/office/powerpoint/2010/main" val="3187316889"/>
              </p:ext>
            </p:extLst>
          </p:nvPr>
        </p:nvGraphicFramePr>
        <p:xfrm>
          <a:off x="937260" y="2940018"/>
          <a:ext cx="8596312" cy="1463040"/>
        </p:xfrm>
        <a:graphic>
          <a:graphicData uri="http://schemas.openxmlformats.org/drawingml/2006/table">
            <a:tbl>
              <a:tblPr/>
              <a:tblGrid>
                <a:gridCol w="4298156">
                  <a:extLst>
                    <a:ext uri="{9D8B030D-6E8A-4147-A177-3AD203B41FA5}">
                      <a16:colId xmlns:a16="http://schemas.microsoft.com/office/drawing/2014/main" val="4120499664"/>
                    </a:ext>
                  </a:extLst>
                </a:gridCol>
                <a:gridCol w="4298156">
                  <a:extLst>
                    <a:ext uri="{9D8B030D-6E8A-4147-A177-3AD203B41FA5}">
                      <a16:colId xmlns:a16="http://schemas.microsoft.com/office/drawing/2014/main" val="2413691365"/>
                    </a:ext>
                  </a:extLst>
                </a:gridCol>
              </a:tblGrid>
              <a:tr h="0">
                <a:tc>
                  <a:txBody>
                    <a:bodyPr/>
                    <a:lstStyle/>
                    <a:p>
                      <a:pPr>
                        <a:buNone/>
                      </a:pPr>
                      <a:r>
                        <a:rPr lang="en-IN" dirty="0"/>
                        <a:t>VM</a:t>
                      </a:r>
                    </a:p>
                  </a:txBody>
                  <a:tcPr anchor="ctr">
                    <a:lnL>
                      <a:noFill/>
                    </a:lnL>
                    <a:lnR>
                      <a:noFill/>
                    </a:lnR>
                    <a:lnT>
                      <a:noFill/>
                    </a:lnT>
                    <a:lnB>
                      <a:noFill/>
                    </a:lnB>
                    <a:noFill/>
                  </a:tcPr>
                </a:tc>
                <a:tc>
                  <a:txBody>
                    <a:bodyPr/>
                    <a:lstStyle/>
                    <a:p>
                      <a:pPr>
                        <a:buNone/>
                      </a:pPr>
                      <a:r>
                        <a:rPr lang="en-IN"/>
                        <a:t>Docker</a:t>
                      </a:r>
                    </a:p>
                  </a:txBody>
                  <a:tcPr anchor="ctr">
                    <a:lnL>
                      <a:noFill/>
                    </a:lnL>
                    <a:lnR>
                      <a:noFill/>
                    </a:lnR>
                    <a:lnT>
                      <a:noFill/>
                    </a:lnT>
                    <a:lnB>
                      <a:noFill/>
                    </a:lnB>
                    <a:noFill/>
                  </a:tcPr>
                </a:tc>
                <a:extLst>
                  <a:ext uri="{0D108BD9-81ED-4DB2-BD59-A6C34878D82A}">
                    <a16:rowId xmlns:a16="http://schemas.microsoft.com/office/drawing/2014/main" val="2987576318"/>
                  </a:ext>
                </a:extLst>
              </a:tr>
              <a:tr h="0">
                <a:tc>
                  <a:txBody>
                    <a:bodyPr/>
                    <a:lstStyle/>
                    <a:p>
                      <a:pPr>
                        <a:buNone/>
                      </a:pPr>
                      <a:r>
                        <a:rPr lang="en-IN" dirty="0"/>
                        <a:t>Heavy</a:t>
                      </a:r>
                    </a:p>
                  </a:txBody>
                  <a:tcPr anchor="ctr">
                    <a:lnL>
                      <a:noFill/>
                    </a:lnL>
                    <a:lnR>
                      <a:noFill/>
                    </a:lnR>
                    <a:lnT>
                      <a:noFill/>
                    </a:lnT>
                    <a:lnB>
                      <a:noFill/>
                    </a:lnB>
                    <a:noFill/>
                  </a:tcPr>
                </a:tc>
                <a:tc>
                  <a:txBody>
                    <a:bodyPr/>
                    <a:lstStyle/>
                    <a:p>
                      <a:pPr>
                        <a:buNone/>
                      </a:pPr>
                      <a:r>
                        <a:rPr lang="en-IN"/>
                        <a:t>Lightweight</a:t>
                      </a:r>
                    </a:p>
                  </a:txBody>
                  <a:tcPr anchor="ctr">
                    <a:lnL>
                      <a:noFill/>
                    </a:lnL>
                    <a:lnR>
                      <a:noFill/>
                    </a:lnR>
                    <a:lnT>
                      <a:noFill/>
                    </a:lnT>
                    <a:lnB>
                      <a:noFill/>
                    </a:lnB>
                    <a:noFill/>
                  </a:tcPr>
                </a:tc>
                <a:extLst>
                  <a:ext uri="{0D108BD9-81ED-4DB2-BD59-A6C34878D82A}">
                    <a16:rowId xmlns:a16="http://schemas.microsoft.com/office/drawing/2014/main" val="183775051"/>
                  </a:ext>
                </a:extLst>
              </a:tr>
              <a:tr h="0">
                <a:tc>
                  <a:txBody>
                    <a:bodyPr/>
                    <a:lstStyle/>
                    <a:p>
                      <a:pPr>
                        <a:buNone/>
                      </a:pPr>
                      <a:r>
                        <a:rPr lang="en-IN"/>
                        <a:t>Full OS</a:t>
                      </a:r>
                    </a:p>
                  </a:txBody>
                  <a:tcPr anchor="ctr">
                    <a:lnL>
                      <a:noFill/>
                    </a:lnL>
                    <a:lnR>
                      <a:noFill/>
                    </a:lnR>
                    <a:lnT>
                      <a:noFill/>
                    </a:lnT>
                    <a:lnB>
                      <a:noFill/>
                    </a:lnB>
                    <a:noFill/>
                  </a:tcPr>
                </a:tc>
                <a:tc>
                  <a:txBody>
                    <a:bodyPr/>
                    <a:lstStyle/>
                    <a:p>
                      <a:pPr>
                        <a:buNone/>
                      </a:pPr>
                      <a:r>
                        <a:rPr lang="en-IN"/>
                        <a:t>Shared OS</a:t>
                      </a:r>
                    </a:p>
                  </a:txBody>
                  <a:tcPr anchor="ctr">
                    <a:lnL>
                      <a:noFill/>
                    </a:lnL>
                    <a:lnR>
                      <a:noFill/>
                    </a:lnR>
                    <a:lnT>
                      <a:noFill/>
                    </a:lnT>
                    <a:lnB>
                      <a:noFill/>
                    </a:lnB>
                    <a:noFill/>
                  </a:tcPr>
                </a:tc>
                <a:extLst>
                  <a:ext uri="{0D108BD9-81ED-4DB2-BD59-A6C34878D82A}">
                    <a16:rowId xmlns:a16="http://schemas.microsoft.com/office/drawing/2014/main" val="2740676380"/>
                  </a:ext>
                </a:extLst>
              </a:tr>
              <a:tr h="0">
                <a:tc>
                  <a:txBody>
                    <a:bodyPr/>
                    <a:lstStyle/>
                    <a:p>
                      <a:pPr>
                        <a:buNone/>
                      </a:pPr>
                      <a:r>
                        <a:rPr lang="en-IN"/>
                        <a:t>Slow startup</a:t>
                      </a:r>
                    </a:p>
                  </a:txBody>
                  <a:tcPr anchor="ctr">
                    <a:lnL>
                      <a:noFill/>
                    </a:lnL>
                    <a:lnR>
                      <a:noFill/>
                    </a:lnR>
                    <a:lnT>
                      <a:noFill/>
                    </a:lnT>
                    <a:lnB>
                      <a:noFill/>
                    </a:lnB>
                    <a:noFill/>
                  </a:tcPr>
                </a:tc>
                <a:tc>
                  <a:txBody>
                    <a:bodyPr/>
                    <a:lstStyle/>
                    <a:p>
                      <a:pPr>
                        <a:buNone/>
                      </a:pPr>
                      <a:r>
                        <a:rPr lang="en-IN" dirty="0"/>
                        <a:t>Fast</a:t>
                      </a:r>
                    </a:p>
                  </a:txBody>
                  <a:tcPr anchor="ctr">
                    <a:lnL>
                      <a:noFill/>
                    </a:lnL>
                    <a:lnR>
                      <a:noFill/>
                    </a:lnR>
                    <a:lnT>
                      <a:noFill/>
                    </a:lnT>
                    <a:lnB>
                      <a:noFill/>
                    </a:lnB>
                    <a:noFill/>
                  </a:tcPr>
                </a:tc>
                <a:extLst>
                  <a:ext uri="{0D108BD9-81ED-4DB2-BD59-A6C34878D82A}">
                    <a16:rowId xmlns:a16="http://schemas.microsoft.com/office/drawing/2014/main" val="2519143736"/>
                  </a:ext>
                </a:extLst>
              </a:tr>
            </a:tbl>
          </a:graphicData>
        </a:graphic>
      </p:graphicFrame>
      <p:sp>
        <p:nvSpPr>
          <p:cNvPr id="9" name="TextBox 8">
            <a:extLst>
              <a:ext uri="{FF2B5EF4-FFF2-40B4-BE49-F238E27FC236}">
                <a16:creationId xmlns:a16="http://schemas.microsoft.com/office/drawing/2014/main" id="{8F4D8577-77BA-DCBB-30A5-BAA9E73A8D6E}"/>
              </a:ext>
            </a:extLst>
          </p:cNvPr>
          <p:cNvSpPr txBox="1"/>
          <p:nvPr/>
        </p:nvSpPr>
        <p:spPr>
          <a:xfrm>
            <a:off x="937260" y="2570686"/>
            <a:ext cx="6099048" cy="369332"/>
          </a:xfrm>
          <a:prstGeom prst="rect">
            <a:avLst/>
          </a:prstGeom>
          <a:noFill/>
        </p:spPr>
        <p:txBody>
          <a:bodyPr wrap="square">
            <a:spAutoFit/>
          </a:bodyPr>
          <a:lstStyle/>
          <a:p>
            <a:r>
              <a:rPr lang="en-IN" b="1" dirty="0"/>
              <a:t>Virtual Machine vs Docker</a:t>
            </a:r>
          </a:p>
        </p:txBody>
      </p:sp>
      <p:sp>
        <p:nvSpPr>
          <p:cNvPr id="11" name="TextBox 10">
            <a:extLst>
              <a:ext uri="{FF2B5EF4-FFF2-40B4-BE49-F238E27FC236}">
                <a16:creationId xmlns:a16="http://schemas.microsoft.com/office/drawing/2014/main" id="{4275C048-E51A-4183-FB41-383184B252A5}"/>
              </a:ext>
            </a:extLst>
          </p:cNvPr>
          <p:cNvSpPr txBox="1"/>
          <p:nvPr/>
        </p:nvSpPr>
        <p:spPr>
          <a:xfrm>
            <a:off x="937260" y="4801811"/>
            <a:ext cx="6099048" cy="1477328"/>
          </a:xfrm>
          <a:prstGeom prst="rect">
            <a:avLst/>
          </a:prstGeom>
          <a:noFill/>
        </p:spPr>
        <p:txBody>
          <a:bodyPr wrap="square">
            <a:spAutoFit/>
          </a:bodyPr>
          <a:lstStyle/>
          <a:p>
            <a:pPr>
              <a:buNone/>
            </a:pPr>
            <a:r>
              <a:rPr lang="en-IN" b="1" dirty="0"/>
              <a:t>Docker Architecture</a:t>
            </a:r>
          </a:p>
          <a:p>
            <a:pPr>
              <a:buFont typeface="Arial" panose="020B0604020202020204" pitchFamily="34" charset="0"/>
              <a:buChar char="•"/>
            </a:pPr>
            <a:r>
              <a:rPr lang="en-IN" dirty="0"/>
              <a:t>Docker Client </a:t>
            </a:r>
          </a:p>
          <a:p>
            <a:pPr>
              <a:buFont typeface="Arial" panose="020B0604020202020204" pitchFamily="34" charset="0"/>
              <a:buChar char="•"/>
            </a:pPr>
            <a:r>
              <a:rPr lang="en-IN" dirty="0"/>
              <a:t>Docker Daemon </a:t>
            </a:r>
          </a:p>
          <a:p>
            <a:pPr>
              <a:buFont typeface="Arial" panose="020B0604020202020204" pitchFamily="34" charset="0"/>
              <a:buChar char="•"/>
            </a:pPr>
            <a:r>
              <a:rPr lang="en-IN" dirty="0"/>
              <a:t>Docker Images </a:t>
            </a:r>
          </a:p>
          <a:p>
            <a:pPr>
              <a:buFont typeface="Arial" panose="020B0604020202020204" pitchFamily="34" charset="0"/>
              <a:buChar char="•"/>
            </a:pPr>
            <a:r>
              <a:rPr lang="en-IN" dirty="0"/>
              <a:t>Docker Containers</a:t>
            </a:r>
          </a:p>
        </p:txBody>
      </p:sp>
    </p:spTree>
    <p:extLst>
      <p:ext uri="{BB962C8B-B14F-4D97-AF65-F5344CB8AC3E}">
        <p14:creationId xmlns:p14="http://schemas.microsoft.com/office/powerpoint/2010/main" val="632478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9F9A366-7FFA-1BE3-8EA2-A5D288588D43}"/>
              </a:ext>
            </a:extLst>
          </p:cNvPr>
          <p:cNvSpPr txBox="1"/>
          <p:nvPr/>
        </p:nvSpPr>
        <p:spPr>
          <a:xfrm>
            <a:off x="832104" y="223847"/>
            <a:ext cx="8476488" cy="6419450"/>
          </a:xfrm>
          <a:prstGeom prst="rect">
            <a:avLst/>
          </a:prstGeom>
          <a:noFill/>
        </p:spPr>
        <p:txBody>
          <a:bodyPr wrap="square">
            <a:spAutoFit/>
          </a:bodyPr>
          <a:lstStyle/>
          <a:p>
            <a:pPr>
              <a:lnSpc>
                <a:spcPts val="1650"/>
              </a:lnSpc>
              <a:buNone/>
            </a:pPr>
            <a:r>
              <a:rPr lang="en-IN" b="1" dirty="0">
                <a:solidFill>
                  <a:srgbClr val="79C0FF"/>
                </a:solidFill>
                <a:effectLst/>
                <a:latin typeface="Consolas" panose="020B0609020204030204" pitchFamily="49" charset="0"/>
              </a:rPr>
              <a:t>`</a:t>
            </a:r>
            <a:r>
              <a:rPr lang="en-IN" b="1" dirty="0" err="1">
                <a:solidFill>
                  <a:srgbClr val="79C0FF"/>
                </a:solidFill>
                <a:effectLst/>
                <a:latin typeface="Consolas" panose="020B0609020204030204" pitchFamily="49" charset="0"/>
              </a:rPr>
              <a:t>Dockerfile</a:t>
            </a:r>
            <a:r>
              <a:rPr lang="en-IN" b="1" dirty="0">
                <a:solidFill>
                  <a:srgbClr val="79C0FF"/>
                </a:solidFill>
                <a:effectLst/>
                <a:latin typeface="Consolas" panose="020B0609020204030204" pitchFamily="49" charset="0"/>
              </a:rPr>
              <a:t>`</a:t>
            </a:r>
            <a:r>
              <a:rPr lang="en-IN" b="1" dirty="0">
                <a:solidFill>
                  <a:srgbClr val="C9D1D9"/>
                </a:solidFill>
                <a:effectLst/>
                <a:latin typeface="Consolas" panose="020B0609020204030204" pitchFamily="49" charset="0"/>
              </a:rPr>
              <a:t>:**</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BBBEBF"/>
                </a:solidFill>
                <a:effectLst/>
                <a:latin typeface="Consolas" panose="020B0609020204030204" pitchFamily="49" charset="0"/>
              </a:rPr>
              <a:t>```</a:t>
            </a:r>
            <a:r>
              <a:rPr lang="en-IN" b="0" dirty="0" err="1">
                <a:solidFill>
                  <a:srgbClr val="BBBEBF"/>
                </a:solidFill>
                <a:effectLst/>
                <a:latin typeface="Consolas" panose="020B0609020204030204" pitchFamily="49" charset="0"/>
              </a:rPr>
              <a:t>dockerfile</a:t>
            </a: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1: Start with a base image</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FROM</a:t>
            </a:r>
            <a:r>
              <a:rPr lang="en-IN" b="0" dirty="0">
                <a:solidFill>
                  <a:srgbClr val="D4D4D4"/>
                </a:solidFill>
                <a:effectLst/>
                <a:latin typeface="Consolas" panose="020B0609020204030204" pitchFamily="49" charset="0"/>
              </a:rPr>
              <a:t> ubuntu:22.04</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2: Set working directory</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WORKDIR</a:t>
            </a:r>
            <a:r>
              <a:rPr lang="en-IN" b="0" dirty="0">
                <a:solidFill>
                  <a:srgbClr val="D4D4D4"/>
                </a:solidFill>
                <a:effectLst/>
                <a:latin typeface="Consolas" panose="020B0609020204030204" pitchFamily="49" charset="0"/>
              </a:rPr>
              <a:t> /app</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3: Install dependencies</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RUN</a:t>
            </a:r>
            <a:r>
              <a:rPr lang="en-IN" b="0" dirty="0">
                <a:solidFill>
                  <a:srgbClr val="D4D4D4"/>
                </a:solidFill>
                <a:effectLst/>
                <a:latin typeface="Consolas" panose="020B0609020204030204" pitchFamily="49" charset="0"/>
              </a:rPr>
              <a:t> apt-get update &amp;&amp; apt-get install -y \</a:t>
            </a:r>
            <a:endParaRPr lang="en-IN" b="0" dirty="0">
              <a:solidFill>
                <a:srgbClr val="BBBEBF"/>
              </a:solidFill>
              <a:effectLst/>
              <a:latin typeface="Consolas" panose="020B0609020204030204" pitchFamily="49" charset="0"/>
            </a:endParaRPr>
          </a:p>
          <a:p>
            <a:pPr>
              <a:lnSpc>
                <a:spcPts val="1650"/>
              </a:lnSpc>
              <a:buNone/>
            </a:pPr>
            <a:r>
              <a:rPr lang="en-IN" b="0" dirty="0">
                <a:solidFill>
                  <a:srgbClr val="D4D4D4"/>
                </a:solidFill>
                <a:effectLst/>
                <a:latin typeface="Consolas" panose="020B0609020204030204" pitchFamily="49" charset="0"/>
              </a:rPr>
              <a:t>    python3 \</a:t>
            </a:r>
            <a:endParaRPr lang="en-IN" b="0" dirty="0">
              <a:solidFill>
                <a:srgbClr val="BBBEBF"/>
              </a:solidFill>
              <a:effectLst/>
              <a:latin typeface="Consolas" panose="020B0609020204030204" pitchFamily="49" charset="0"/>
            </a:endParaRPr>
          </a:p>
          <a:p>
            <a:pPr>
              <a:lnSpc>
                <a:spcPts val="1650"/>
              </a:lnSpc>
              <a:buNone/>
            </a:pPr>
            <a:r>
              <a:rPr lang="en-IN" b="0" dirty="0">
                <a:solidFill>
                  <a:srgbClr val="D4D4D4"/>
                </a:solidFill>
                <a:effectLst/>
                <a:latin typeface="Consolas" panose="020B0609020204030204" pitchFamily="49" charset="0"/>
              </a:rPr>
              <a:t>    python3-pip</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4: Copy files from host to container</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COPY</a:t>
            </a:r>
            <a:r>
              <a:rPr lang="en-IN" b="0" dirty="0">
                <a:solidFill>
                  <a:srgbClr val="D4D4D4"/>
                </a:solidFill>
                <a:effectLst/>
                <a:latin typeface="Consolas" panose="020B0609020204030204" pitchFamily="49" charset="0"/>
              </a:rPr>
              <a:t> . /app</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5: Install Python dependencies (if you have requirements.txt)</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RUN</a:t>
            </a:r>
            <a:r>
              <a:rPr lang="en-IN" b="0" dirty="0">
                <a:solidFill>
                  <a:srgbClr val="D4D4D4"/>
                </a:solidFill>
                <a:effectLst/>
                <a:latin typeface="Consolas" panose="020B0609020204030204" pitchFamily="49" charset="0"/>
              </a:rPr>
              <a:t> pip install -r requirements.txt</a:t>
            </a:r>
            <a:endParaRPr lang="en-IN" b="0" dirty="0">
              <a:solidFill>
                <a:srgbClr val="BBBEBF"/>
              </a:solidFill>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8B949E"/>
                </a:solidFill>
                <a:effectLst/>
                <a:latin typeface="Consolas" panose="020B0609020204030204" pitchFamily="49" charset="0"/>
              </a:rPr>
              <a:t># Step 6: Set the default command</a:t>
            </a:r>
            <a:endParaRPr lang="en-IN" b="0" dirty="0">
              <a:solidFill>
                <a:srgbClr val="BBBEBF"/>
              </a:solidFill>
              <a:effectLst/>
              <a:latin typeface="Consolas" panose="020B0609020204030204" pitchFamily="49" charset="0"/>
            </a:endParaRPr>
          </a:p>
          <a:p>
            <a:pPr>
              <a:lnSpc>
                <a:spcPts val="1650"/>
              </a:lnSpc>
              <a:buNone/>
            </a:pPr>
            <a:r>
              <a:rPr lang="en-IN" b="0" dirty="0">
                <a:solidFill>
                  <a:srgbClr val="FF7B72"/>
                </a:solidFill>
                <a:effectLst/>
                <a:latin typeface="Consolas" panose="020B0609020204030204" pitchFamily="49" charset="0"/>
              </a:rPr>
              <a:t>CMD</a:t>
            </a:r>
            <a:r>
              <a:rPr lang="en-IN" b="0" dirty="0">
                <a:solidFill>
                  <a:srgbClr val="D4D4D4"/>
                </a:solidFill>
                <a:effectLst/>
                <a:latin typeface="Consolas" panose="020B0609020204030204" pitchFamily="49" charset="0"/>
              </a:rPr>
              <a:t> [</a:t>
            </a:r>
            <a:r>
              <a:rPr lang="en-IN" b="0" dirty="0">
                <a:solidFill>
                  <a:srgbClr val="A5D6FF"/>
                </a:solidFill>
                <a:effectLst/>
                <a:latin typeface="Consolas" panose="020B0609020204030204" pitchFamily="49" charset="0"/>
              </a:rPr>
              <a:t>"python3"</a:t>
            </a:r>
            <a:r>
              <a:rPr lang="en-IN" b="0" dirty="0">
                <a:solidFill>
                  <a:srgbClr val="D4D4D4"/>
                </a:solidFill>
                <a:effectLst/>
                <a:latin typeface="Consolas" panose="020B0609020204030204" pitchFamily="49" charset="0"/>
              </a:rPr>
              <a:t>, </a:t>
            </a:r>
            <a:r>
              <a:rPr lang="en-IN" b="0" dirty="0">
                <a:solidFill>
                  <a:srgbClr val="A5D6FF"/>
                </a:solidFill>
                <a:effectLst/>
                <a:latin typeface="Consolas" panose="020B0609020204030204" pitchFamily="49" charset="0"/>
              </a:rPr>
              <a:t>"app.py"</a:t>
            </a:r>
            <a:r>
              <a:rPr lang="en-IN" b="0" dirty="0">
                <a:solidFill>
                  <a:srgbClr val="D4D4D4"/>
                </a:solidFill>
                <a:effectLst/>
                <a:latin typeface="Consolas" panose="020B0609020204030204" pitchFamily="49" charset="0"/>
              </a:rPr>
              <a:t>]</a:t>
            </a:r>
            <a:endParaRPr lang="en-IN"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38300313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5E3EA81-1D19-ECCC-4064-93B428DC51ED}"/>
              </a:ext>
            </a:extLst>
          </p:cNvPr>
          <p:cNvSpPr txBox="1"/>
          <p:nvPr/>
        </p:nvSpPr>
        <p:spPr>
          <a:xfrm>
            <a:off x="466344" y="1422894"/>
            <a:ext cx="8682228" cy="3149324"/>
          </a:xfrm>
          <a:prstGeom prst="rect">
            <a:avLst/>
          </a:prstGeom>
          <a:noFill/>
        </p:spPr>
        <p:txBody>
          <a:bodyPr wrap="square">
            <a:spAutoFit/>
          </a:bodyPr>
          <a:lstStyle/>
          <a:p>
            <a:pPr>
              <a:lnSpc>
                <a:spcPts val="1650"/>
              </a:lnSpc>
              <a:buNone/>
            </a:pPr>
            <a:r>
              <a:rPr lang="en-IN" b="1" dirty="0">
                <a:effectLst/>
                <a:latin typeface="Consolas" panose="020B0609020204030204" pitchFamily="49" charset="0"/>
              </a:rPr>
              <a:t>## </a:t>
            </a:r>
            <a:r>
              <a:rPr lang="en-IN" b="1" dirty="0" err="1">
                <a:effectLst/>
                <a:latin typeface="Consolas" panose="020B0609020204030204" pitchFamily="49" charset="0"/>
              </a:rPr>
              <a:t>Dockerfile</a:t>
            </a:r>
            <a:r>
              <a:rPr lang="en-IN" b="1" dirty="0">
                <a:effectLst/>
                <a:latin typeface="Consolas" panose="020B0609020204030204" pitchFamily="49" charset="0"/>
              </a:rPr>
              <a:t> Instructions Reference</a:t>
            </a:r>
            <a:endParaRPr lang="en-IN" b="0" dirty="0">
              <a:effectLst/>
              <a:latin typeface="Consolas" panose="020B0609020204030204" pitchFamily="49" charset="0"/>
            </a:endParaRPr>
          </a:p>
          <a:p>
            <a:pPr>
              <a:lnSpc>
                <a:spcPts val="1650"/>
              </a:lnSpc>
              <a:buNone/>
            </a:pPr>
            <a:br>
              <a:rPr lang="en-IN" b="0" dirty="0">
                <a:solidFill>
                  <a:srgbClr val="BBBEBF"/>
                </a:solidFill>
                <a:effectLst/>
                <a:latin typeface="Consolas" panose="020B0609020204030204" pitchFamily="49" charset="0"/>
              </a:rPr>
            </a:br>
            <a:endParaRPr lang="en-IN" b="0" dirty="0">
              <a:solidFill>
                <a:srgbClr val="BBBEBF"/>
              </a:solidFill>
              <a:effectLst/>
              <a:latin typeface="Consolas" panose="020B0609020204030204" pitchFamily="49" charset="0"/>
            </a:endParaRPr>
          </a:p>
          <a:p>
            <a:pPr>
              <a:lnSpc>
                <a:spcPts val="1650"/>
              </a:lnSpc>
              <a:buNone/>
            </a:pPr>
            <a:r>
              <a:rPr lang="en-IN" b="0" dirty="0">
                <a:solidFill>
                  <a:srgbClr val="BBBEBF"/>
                </a:solidFill>
                <a:effectLst/>
                <a:latin typeface="Consolas" panose="020B0609020204030204" pitchFamily="49" charset="0"/>
              </a:rPr>
              <a:t>| Instruction | Purpose |</a:t>
            </a:r>
          </a:p>
          <a:p>
            <a:pPr>
              <a:lnSpc>
                <a:spcPts val="1650"/>
              </a:lnSpc>
              <a:buNone/>
            </a:pPr>
            <a:r>
              <a:rPr lang="en-IN" b="0" dirty="0">
                <a:solidFill>
                  <a:srgbClr val="BBBEBF"/>
                </a:solidFill>
                <a:effectLst/>
                <a:latin typeface="Consolas" panose="020B0609020204030204" pitchFamily="49" charset="0"/>
              </a:rPr>
              <a:t>|------------|---------|</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`FROM`</a:t>
            </a:r>
            <a:r>
              <a:rPr lang="en-IN" b="0" dirty="0">
                <a:solidFill>
                  <a:srgbClr val="BBBEBF"/>
                </a:solidFill>
                <a:effectLst/>
                <a:latin typeface="Consolas" panose="020B0609020204030204" pitchFamily="49" charset="0"/>
              </a:rPr>
              <a:t> | Base image to build upon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`WORKDIR`</a:t>
            </a:r>
            <a:r>
              <a:rPr lang="en-IN" b="0" dirty="0">
                <a:solidFill>
                  <a:srgbClr val="BBBEBF"/>
                </a:solidFill>
                <a:effectLst/>
                <a:latin typeface="Consolas" panose="020B0609020204030204" pitchFamily="49" charset="0"/>
              </a:rPr>
              <a:t> | Set working directory in container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`RUN`</a:t>
            </a:r>
            <a:r>
              <a:rPr lang="en-IN" b="0" dirty="0">
                <a:solidFill>
                  <a:srgbClr val="BBBEBF"/>
                </a:solidFill>
                <a:effectLst/>
                <a:latin typeface="Consolas" panose="020B0609020204030204" pitchFamily="49" charset="0"/>
              </a:rPr>
              <a:t> | Execute command during build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`COPY`</a:t>
            </a:r>
            <a:r>
              <a:rPr lang="en-IN" b="0" dirty="0">
                <a:solidFill>
                  <a:srgbClr val="BBBEBF"/>
                </a:solidFill>
                <a:effectLst/>
                <a:latin typeface="Consolas" panose="020B0609020204030204" pitchFamily="49" charset="0"/>
              </a:rPr>
              <a:t> | Copy files from host to container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`ADD`</a:t>
            </a:r>
            <a:r>
              <a:rPr lang="en-IN" b="0" dirty="0">
                <a:solidFill>
                  <a:srgbClr val="BBBEBF"/>
                </a:solidFill>
                <a:effectLst/>
                <a:latin typeface="Consolas" panose="020B0609020204030204" pitchFamily="49" charset="0"/>
              </a:rPr>
              <a:t> | Copy files (more advanced than COPY)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`ENV`</a:t>
            </a:r>
            <a:r>
              <a:rPr lang="en-IN" b="0" dirty="0">
                <a:solidFill>
                  <a:srgbClr val="BBBEBF"/>
                </a:solidFill>
                <a:effectLst/>
                <a:latin typeface="Consolas" panose="020B0609020204030204" pitchFamily="49" charset="0"/>
              </a:rPr>
              <a:t> | Set environment variables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`EXPOSE`</a:t>
            </a:r>
            <a:r>
              <a:rPr lang="en-IN" b="0" dirty="0">
                <a:solidFill>
                  <a:srgbClr val="BBBEBF"/>
                </a:solidFill>
                <a:effectLst/>
                <a:latin typeface="Consolas" panose="020B0609020204030204" pitchFamily="49" charset="0"/>
              </a:rPr>
              <a:t> | Document port the app listens on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`CMD`</a:t>
            </a:r>
            <a:r>
              <a:rPr lang="en-IN" b="0" dirty="0">
                <a:solidFill>
                  <a:srgbClr val="BBBEBF"/>
                </a:solidFill>
                <a:effectLst/>
                <a:latin typeface="Consolas" panose="020B0609020204030204" pitchFamily="49" charset="0"/>
              </a:rPr>
              <a:t> | Default command when container starts |</a:t>
            </a:r>
          </a:p>
          <a:p>
            <a:pPr>
              <a:lnSpc>
                <a:spcPts val="1650"/>
              </a:lnSpc>
              <a:buNone/>
            </a:pPr>
            <a:r>
              <a:rPr lang="en-IN" b="0" dirty="0">
                <a:solidFill>
                  <a:srgbClr val="BBBEBF"/>
                </a:solidFill>
                <a:effectLst/>
                <a:latin typeface="Consolas" panose="020B0609020204030204" pitchFamily="49" charset="0"/>
              </a:rPr>
              <a:t>| </a:t>
            </a:r>
            <a:r>
              <a:rPr lang="en-IN" b="0" dirty="0">
                <a:solidFill>
                  <a:srgbClr val="79C0FF"/>
                </a:solidFill>
                <a:effectLst/>
                <a:latin typeface="Consolas" panose="020B0609020204030204" pitchFamily="49" charset="0"/>
              </a:rPr>
              <a:t>`ENTRYPOINT`</a:t>
            </a:r>
            <a:r>
              <a:rPr lang="en-IN" b="0" dirty="0">
                <a:solidFill>
                  <a:srgbClr val="BBBEBF"/>
                </a:solidFill>
                <a:effectLst/>
                <a:latin typeface="Consolas" panose="020B0609020204030204" pitchFamily="49" charset="0"/>
              </a:rPr>
              <a:t> | Configure container as executable |</a:t>
            </a:r>
          </a:p>
        </p:txBody>
      </p:sp>
    </p:spTree>
    <p:extLst>
      <p:ext uri="{BB962C8B-B14F-4D97-AF65-F5344CB8AC3E}">
        <p14:creationId xmlns:p14="http://schemas.microsoft.com/office/powerpoint/2010/main" val="1882883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686259-7782-E8DA-38CD-2C7C3445AD48}"/>
              </a:ext>
            </a:extLst>
          </p:cNvPr>
          <p:cNvSpPr txBox="1"/>
          <p:nvPr/>
        </p:nvSpPr>
        <p:spPr>
          <a:xfrm>
            <a:off x="681228" y="350258"/>
            <a:ext cx="6099048" cy="369332"/>
          </a:xfrm>
          <a:prstGeom prst="rect">
            <a:avLst/>
          </a:prstGeom>
          <a:noFill/>
        </p:spPr>
        <p:txBody>
          <a:bodyPr wrap="square">
            <a:spAutoFit/>
          </a:bodyPr>
          <a:lstStyle/>
          <a:p>
            <a:r>
              <a:rPr lang="en-IN" sz="1800" dirty="0"/>
              <a:t>Interview Question on </a:t>
            </a:r>
            <a:r>
              <a:rPr lang="en-IN" dirty="0"/>
              <a:t>Docker </a:t>
            </a:r>
            <a:r>
              <a:rPr lang="en-IN" sz="1800" dirty="0"/>
              <a:t> </a:t>
            </a:r>
            <a:endParaRPr lang="en-IN" dirty="0"/>
          </a:p>
        </p:txBody>
      </p:sp>
      <p:sp>
        <p:nvSpPr>
          <p:cNvPr id="6" name="Rectangle 1">
            <a:extLst>
              <a:ext uri="{FF2B5EF4-FFF2-40B4-BE49-F238E27FC236}">
                <a16:creationId xmlns:a16="http://schemas.microsoft.com/office/drawing/2014/main" id="{85823C48-E9CF-2240-C9BF-A9B99156AEB4}"/>
              </a:ext>
            </a:extLst>
          </p:cNvPr>
          <p:cNvSpPr>
            <a:spLocks noChangeArrowheads="1"/>
          </p:cNvSpPr>
          <p:nvPr/>
        </p:nvSpPr>
        <p:spPr bwMode="auto">
          <a:xfrm rot="10800000" flipV="1">
            <a:off x="225552" y="852988"/>
            <a:ext cx="1228344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1800" b="0" i="0" u="none" strike="noStrike" cap="none" normalizeH="0" baseline="0" dirty="0">
                <a:ln>
                  <a:noFill/>
                </a:ln>
                <a:solidFill>
                  <a:schemeClr val="tx1"/>
                </a:solidFill>
                <a:effectLst/>
                <a:latin typeface="Arial" panose="020B0604020202020204" pitchFamily="34" charset="0"/>
              </a:rPr>
              <a:t>1 Difference between Copy and Add command.</a:t>
            </a:r>
          </a:p>
        </p:txBody>
      </p:sp>
      <p:sp>
        <p:nvSpPr>
          <p:cNvPr id="10" name="TextBox 9">
            <a:extLst>
              <a:ext uri="{FF2B5EF4-FFF2-40B4-BE49-F238E27FC236}">
                <a16:creationId xmlns:a16="http://schemas.microsoft.com/office/drawing/2014/main" id="{7E9148E2-FA93-77A4-1C87-0E8C249A3A0B}"/>
              </a:ext>
            </a:extLst>
          </p:cNvPr>
          <p:cNvSpPr txBox="1"/>
          <p:nvPr/>
        </p:nvSpPr>
        <p:spPr>
          <a:xfrm>
            <a:off x="420624" y="1461808"/>
            <a:ext cx="6254496" cy="1200329"/>
          </a:xfrm>
          <a:prstGeom prst="rect">
            <a:avLst/>
          </a:prstGeom>
          <a:noFill/>
        </p:spPr>
        <p:txBody>
          <a:bodyPr wrap="square">
            <a:spAutoFit/>
          </a:bodyPr>
          <a:lstStyle/>
          <a:p>
            <a:r>
              <a:rPr lang="en-US" b="0" i="0" dirty="0">
                <a:solidFill>
                  <a:srgbClr val="273239"/>
                </a:solidFill>
                <a:effectLst/>
                <a:latin typeface="Nunito" pitchFamily="2" charset="0"/>
              </a:rPr>
              <a:t>The 'COPY' command is used to copy files and directories from the host’s file system into the Docker image. It doesn’t support URLs or automatic extraction of compressed files.</a:t>
            </a:r>
            <a:endParaRPr lang="en-IN" dirty="0"/>
          </a:p>
        </p:txBody>
      </p:sp>
      <p:sp>
        <p:nvSpPr>
          <p:cNvPr id="12" name="TextBox 11">
            <a:extLst>
              <a:ext uri="{FF2B5EF4-FFF2-40B4-BE49-F238E27FC236}">
                <a16:creationId xmlns:a16="http://schemas.microsoft.com/office/drawing/2014/main" id="{BF0917DC-E930-1368-AE36-C12CB4926800}"/>
              </a:ext>
            </a:extLst>
          </p:cNvPr>
          <p:cNvSpPr txBox="1"/>
          <p:nvPr/>
        </p:nvSpPr>
        <p:spPr>
          <a:xfrm>
            <a:off x="420624" y="2990418"/>
            <a:ext cx="6254496" cy="877163"/>
          </a:xfrm>
          <a:prstGeom prst="rect">
            <a:avLst/>
          </a:prstGeom>
          <a:noFill/>
        </p:spPr>
        <p:txBody>
          <a:bodyPr wrap="square">
            <a:spAutoFit/>
          </a:bodyPr>
          <a:lstStyle/>
          <a:p>
            <a:pPr algn="l" fontAlgn="base">
              <a:spcAft>
                <a:spcPts val="1800"/>
              </a:spcAft>
              <a:buFont typeface="Arial" panose="020B0604020202020204" pitchFamily="34" charset="0"/>
              <a:buChar char="•"/>
            </a:pPr>
            <a:r>
              <a:rPr lang="en-US" b="0" i="0" dirty="0">
                <a:solidFill>
                  <a:srgbClr val="273239"/>
                </a:solidFill>
                <a:effectLst/>
                <a:latin typeface="Nunito" pitchFamily="2" charset="0"/>
              </a:rPr>
              <a:t>A URL instead of a local file/directory.</a:t>
            </a:r>
          </a:p>
          <a:p>
            <a:pPr algn="l" fontAlgn="base">
              <a:spcAft>
                <a:spcPts val="1800"/>
              </a:spcAft>
              <a:buFont typeface="Arial" panose="020B0604020202020204" pitchFamily="34" charset="0"/>
              <a:buChar char="•"/>
            </a:pPr>
            <a:r>
              <a:rPr lang="en-US" b="0" i="0" dirty="0">
                <a:solidFill>
                  <a:srgbClr val="273239"/>
                </a:solidFill>
                <a:effectLst/>
                <a:latin typeface="Nunito" pitchFamily="2" charset="0"/>
              </a:rPr>
              <a:t>Extract tar from the source directory into the destination.</a:t>
            </a:r>
          </a:p>
        </p:txBody>
      </p:sp>
    </p:spTree>
    <p:extLst>
      <p:ext uri="{BB962C8B-B14F-4D97-AF65-F5344CB8AC3E}">
        <p14:creationId xmlns:p14="http://schemas.microsoft.com/office/powerpoint/2010/main" val="8018882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2E19937-0215-394B-8894-77F6258B6D2C}"/>
              </a:ext>
            </a:extLst>
          </p:cNvPr>
          <p:cNvSpPr txBox="1"/>
          <p:nvPr/>
        </p:nvSpPr>
        <p:spPr>
          <a:xfrm>
            <a:off x="955548" y="764185"/>
            <a:ext cx="7539228" cy="2308324"/>
          </a:xfrm>
          <a:prstGeom prst="rect">
            <a:avLst/>
          </a:prstGeom>
          <a:noFill/>
        </p:spPr>
        <p:txBody>
          <a:bodyPr wrap="square">
            <a:spAutoFit/>
          </a:bodyPr>
          <a:lstStyle/>
          <a:p>
            <a:r>
              <a:rPr lang="en-IN" b="1" dirty="0"/>
              <a:t>Important Docker Commands</a:t>
            </a:r>
          </a:p>
          <a:p>
            <a:br>
              <a:rPr lang="en-IN" dirty="0"/>
            </a:br>
            <a:r>
              <a:rPr lang="en-IN" dirty="0"/>
              <a:t>docker --version</a:t>
            </a:r>
          </a:p>
          <a:p>
            <a:r>
              <a:rPr lang="en-IN" dirty="0"/>
              <a:t>docker pull nginx</a:t>
            </a:r>
          </a:p>
          <a:p>
            <a:r>
              <a:rPr lang="en-IN" dirty="0"/>
              <a:t>docker images</a:t>
            </a:r>
          </a:p>
          <a:p>
            <a:r>
              <a:rPr lang="en-IN" dirty="0"/>
              <a:t>docker run nginx</a:t>
            </a:r>
          </a:p>
          <a:p>
            <a:r>
              <a:rPr lang="en-IN" dirty="0"/>
              <a:t>docker </a:t>
            </a:r>
            <a:r>
              <a:rPr lang="en-IN" dirty="0" err="1"/>
              <a:t>ps</a:t>
            </a:r>
            <a:endParaRPr lang="en-IN" dirty="0"/>
          </a:p>
          <a:p>
            <a:r>
              <a:rPr lang="en-IN" dirty="0"/>
              <a:t>docker stop &lt;container-id&gt;</a:t>
            </a:r>
          </a:p>
        </p:txBody>
      </p:sp>
      <p:sp>
        <p:nvSpPr>
          <p:cNvPr id="7" name="TextBox 6">
            <a:extLst>
              <a:ext uri="{FF2B5EF4-FFF2-40B4-BE49-F238E27FC236}">
                <a16:creationId xmlns:a16="http://schemas.microsoft.com/office/drawing/2014/main" id="{78821406-A3E8-7632-209E-9DAF894BFD43}"/>
              </a:ext>
            </a:extLst>
          </p:cNvPr>
          <p:cNvSpPr txBox="1"/>
          <p:nvPr/>
        </p:nvSpPr>
        <p:spPr>
          <a:xfrm>
            <a:off x="955548" y="3644545"/>
            <a:ext cx="6099048" cy="1754326"/>
          </a:xfrm>
          <a:prstGeom prst="rect">
            <a:avLst/>
          </a:prstGeom>
          <a:noFill/>
        </p:spPr>
        <p:txBody>
          <a:bodyPr wrap="square">
            <a:spAutoFit/>
          </a:bodyPr>
          <a:lstStyle/>
          <a:p>
            <a:pPr>
              <a:buNone/>
            </a:pPr>
            <a:r>
              <a:rPr lang="en-US" b="1" dirty="0"/>
              <a:t>What is </a:t>
            </a:r>
            <a:r>
              <a:rPr lang="en-US" b="1" dirty="0" err="1"/>
              <a:t>Dockerfile</a:t>
            </a:r>
            <a:r>
              <a:rPr lang="en-US" b="1" dirty="0"/>
              <a:t>?</a:t>
            </a:r>
          </a:p>
          <a:p>
            <a:pPr>
              <a:buNone/>
            </a:pPr>
            <a:r>
              <a:rPr lang="en-US" dirty="0"/>
              <a:t>👉 A file to define how to build image</a:t>
            </a:r>
          </a:p>
          <a:p>
            <a:pPr>
              <a:buNone/>
            </a:pPr>
            <a:r>
              <a:rPr lang="en-US" dirty="0"/>
              <a:t>Example:</a:t>
            </a:r>
          </a:p>
          <a:p>
            <a:pPr rtl="0">
              <a:buNone/>
            </a:pPr>
            <a:r>
              <a:rPr lang="en-US" dirty="0">
                <a:latin typeface="Courier New" panose="02070309020205020404" pitchFamily="49" charset="0"/>
              </a:rPr>
              <a:t>FROM openjdk:11</a:t>
            </a:r>
            <a:br>
              <a:rPr lang="en-US" dirty="0">
                <a:latin typeface="Courier New" panose="02070309020205020404" pitchFamily="49" charset="0"/>
              </a:rPr>
            </a:br>
            <a:r>
              <a:rPr lang="en-US" dirty="0">
                <a:latin typeface="Courier New" panose="02070309020205020404" pitchFamily="49" charset="0"/>
              </a:rPr>
              <a:t>COPY target/</a:t>
            </a:r>
            <a:r>
              <a:rPr lang="en-US" dirty="0" err="1">
                <a:latin typeface="Courier New" panose="02070309020205020404" pitchFamily="49" charset="0"/>
              </a:rPr>
              <a:t>app.war</a:t>
            </a:r>
            <a:r>
              <a:rPr lang="en-US" dirty="0">
                <a:latin typeface="Courier New" panose="02070309020205020404" pitchFamily="49" charset="0"/>
              </a:rPr>
              <a:t> /</a:t>
            </a:r>
            <a:r>
              <a:rPr lang="en-US" dirty="0" err="1">
                <a:latin typeface="Courier New" panose="02070309020205020404" pitchFamily="49" charset="0"/>
              </a:rPr>
              <a:t>app.war</a:t>
            </a:r>
            <a:br>
              <a:rPr lang="en-US" dirty="0">
                <a:latin typeface="Courier New" panose="02070309020205020404" pitchFamily="49" charset="0"/>
              </a:rPr>
            </a:br>
            <a:r>
              <a:rPr lang="en-US" dirty="0">
                <a:latin typeface="Courier New" panose="02070309020205020404" pitchFamily="49" charset="0"/>
              </a:rPr>
              <a:t>CMD ["java", "-jar", "/</a:t>
            </a:r>
            <a:r>
              <a:rPr lang="en-US" dirty="0" err="1">
                <a:latin typeface="Courier New" panose="02070309020205020404" pitchFamily="49" charset="0"/>
              </a:rPr>
              <a:t>app.war</a:t>
            </a:r>
            <a:r>
              <a:rPr lang="en-US" dirty="0">
                <a:latin typeface="Courier New" panose="02070309020205020404" pitchFamily="49" charset="0"/>
              </a:rPr>
              <a:t>"]</a:t>
            </a:r>
          </a:p>
        </p:txBody>
      </p:sp>
    </p:spTree>
    <p:extLst>
      <p:ext uri="{BB962C8B-B14F-4D97-AF65-F5344CB8AC3E}">
        <p14:creationId xmlns:p14="http://schemas.microsoft.com/office/powerpoint/2010/main" val="23797627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C4E7DBA-F5D8-C896-1B16-1A9C6C540357}"/>
              </a:ext>
            </a:extLst>
          </p:cNvPr>
          <p:cNvSpPr txBox="1"/>
          <p:nvPr/>
        </p:nvSpPr>
        <p:spPr>
          <a:xfrm>
            <a:off x="882396" y="879271"/>
            <a:ext cx="6099048" cy="646331"/>
          </a:xfrm>
          <a:prstGeom prst="rect">
            <a:avLst/>
          </a:prstGeom>
          <a:noFill/>
        </p:spPr>
        <p:txBody>
          <a:bodyPr wrap="square">
            <a:spAutoFit/>
          </a:bodyPr>
          <a:lstStyle/>
          <a:p>
            <a:pPr>
              <a:buNone/>
            </a:pPr>
            <a:r>
              <a:rPr lang="en-IN" b="1" dirty="0"/>
              <a:t>Build Docker Image</a:t>
            </a:r>
          </a:p>
          <a:p>
            <a:pPr rtl="0">
              <a:buNone/>
            </a:pPr>
            <a:r>
              <a:rPr lang="en-IN" dirty="0">
                <a:latin typeface="Courier New" panose="02070309020205020404" pitchFamily="49" charset="0"/>
              </a:rPr>
              <a:t>docker build -t </a:t>
            </a:r>
            <a:r>
              <a:rPr lang="en-IN" dirty="0" err="1">
                <a:latin typeface="Courier New" panose="02070309020205020404" pitchFamily="49" charset="0"/>
              </a:rPr>
              <a:t>myapp</a:t>
            </a:r>
            <a:r>
              <a:rPr lang="en-IN" dirty="0">
                <a:latin typeface="Courier New" panose="02070309020205020404" pitchFamily="49" charset="0"/>
              </a:rPr>
              <a:t> .</a:t>
            </a:r>
          </a:p>
        </p:txBody>
      </p:sp>
      <p:sp>
        <p:nvSpPr>
          <p:cNvPr id="7" name="TextBox 6">
            <a:extLst>
              <a:ext uri="{FF2B5EF4-FFF2-40B4-BE49-F238E27FC236}">
                <a16:creationId xmlns:a16="http://schemas.microsoft.com/office/drawing/2014/main" id="{45F7C164-65E0-D93C-A421-21270BA852A6}"/>
              </a:ext>
            </a:extLst>
          </p:cNvPr>
          <p:cNvSpPr txBox="1"/>
          <p:nvPr/>
        </p:nvSpPr>
        <p:spPr>
          <a:xfrm>
            <a:off x="882396" y="2278303"/>
            <a:ext cx="6099048" cy="646331"/>
          </a:xfrm>
          <a:prstGeom prst="rect">
            <a:avLst/>
          </a:prstGeom>
          <a:noFill/>
        </p:spPr>
        <p:txBody>
          <a:bodyPr wrap="square">
            <a:spAutoFit/>
          </a:bodyPr>
          <a:lstStyle/>
          <a:p>
            <a:pPr>
              <a:buNone/>
            </a:pPr>
            <a:r>
              <a:rPr lang="en-US" b="1"/>
              <a:t>Run Container</a:t>
            </a:r>
          </a:p>
          <a:p>
            <a:pPr rtl="0">
              <a:buNone/>
            </a:pPr>
            <a:r>
              <a:rPr lang="en-US">
                <a:latin typeface="Courier New" panose="02070309020205020404" pitchFamily="49" charset="0"/>
              </a:rPr>
              <a:t>docker run -d -p 8080:8080 myapp</a:t>
            </a:r>
            <a:endParaRPr lang="en-US" dirty="0">
              <a:latin typeface="Courier New" panose="02070309020205020404" pitchFamily="49" charset="0"/>
            </a:endParaRPr>
          </a:p>
        </p:txBody>
      </p:sp>
      <p:sp>
        <p:nvSpPr>
          <p:cNvPr id="9" name="TextBox 8">
            <a:extLst>
              <a:ext uri="{FF2B5EF4-FFF2-40B4-BE49-F238E27FC236}">
                <a16:creationId xmlns:a16="http://schemas.microsoft.com/office/drawing/2014/main" id="{C56E2137-4E9C-C726-E225-F67401A139A7}"/>
              </a:ext>
            </a:extLst>
          </p:cNvPr>
          <p:cNvSpPr txBox="1"/>
          <p:nvPr/>
        </p:nvSpPr>
        <p:spPr>
          <a:xfrm>
            <a:off x="882396" y="3677335"/>
            <a:ext cx="6099048" cy="1754326"/>
          </a:xfrm>
          <a:prstGeom prst="rect">
            <a:avLst/>
          </a:prstGeom>
          <a:noFill/>
        </p:spPr>
        <p:txBody>
          <a:bodyPr wrap="square">
            <a:spAutoFit/>
          </a:bodyPr>
          <a:lstStyle/>
          <a:p>
            <a:pPr>
              <a:buNone/>
            </a:pPr>
            <a:r>
              <a:rPr lang="en-US" b="1" dirty="0"/>
              <a:t>DevOps Flow with Docker</a:t>
            </a:r>
          </a:p>
          <a:p>
            <a:pPr>
              <a:buNone/>
            </a:pPr>
            <a:r>
              <a:rPr lang="en-US" dirty="0"/>
              <a:t>👉 End-to-end:</a:t>
            </a:r>
          </a:p>
          <a:p>
            <a:pPr>
              <a:buFont typeface="Arial" panose="020B0604020202020204" pitchFamily="34" charset="0"/>
              <a:buChar char="•"/>
            </a:pPr>
            <a:r>
              <a:rPr lang="en-US" dirty="0"/>
              <a:t>Code → Git </a:t>
            </a:r>
          </a:p>
          <a:p>
            <a:pPr>
              <a:buFont typeface="Arial" panose="020B0604020202020204" pitchFamily="34" charset="0"/>
              <a:buChar char="•"/>
            </a:pPr>
            <a:r>
              <a:rPr lang="en-US" dirty="0"/>
              <a:t>Jenkins builds </a:t>
            </a:r>
            <a:r>
              <a:rPr lang="en-US" dirty="0">
                <a:latin typeface="Courier New" panose="02070309020205020404" pitchFamily="49" charset="0"/>
              </a:rPr>
              <a:t>.war</a:t>
            </a:r>
            <a:r>
              <a:rPr lang="en-US" dirty="0"/>
              <a:t> </a:t>
            </a:r>
          </a:p>
          <a:p>
            <a:pPr>
              <a:buFont typeface="Arial" panose="020B0604020202020204" pitchFamily="34" charset="0"/>
              <a:buChar char="•"/>
            </a:pPr>
            <a:r>
              <a:rPr lang="en-US" dirty="0"/>
              <a:t>Docker builds image </a:t>
            </a:r>
          </a:p>
          <a:p>
            <a:pPr>
              <a:buFont typeface="Arial" panose="020B0604020202020204" pitchFamily="34" charset="0"/>
              <a:buChar char="•"/>
            </a:pPr>
            <a:r>
              <a:rPr lang="en-US" dirty="0"/>
              <a:t>Run container</a:t>
            </a:r>
          </a:p>
        </p:txBody>
      </p:sp>
    </p:spTree>
    <p:extLst>
      <p:ext uri="{BB962C8B-B14F-4D97-AF65-F5344CB8AC3E}">
        <p14:creationId xmlns:p14="http://schemas.microsoft.com/office/powerpoint/2010/main" val="30072582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CD690F-89BB-FD20-B96B-B17F122D8CE5}"/>
              </a:ext>
            </a:extLst>
          </p:cNvPr>
          <p:cNvPicPr>
            <a:picLocks noChangeAspect="1"/>
          </p:cNvPicPr>
          <p:nvPr/>
        </p:nvPicPr>
        <p:blipFill>
          <a:blip r:embed="rId2"/>
          <a:stretch>
            <a:fillRect/>
          </a:stretch>
        </p:blipFill>
        <p:spPr>
          <a:xfrm>
            <a:off x="1529367" y="679110"/>
            <a:ext cx="7763720" cy="5652116"/>
          </a:xfrm>
          <a:prstGeom prst="rect">
            <a:avLst/>
          </a:prstGeom>
        </p:spPr>
      </p:pic>
    </p:spTree>
    <p:extLst>
      <p:ext uri="{BB962C8B-B14F-4D97-AF65-F5344CB8AC3E}">
        <p14:creationId xmlns:p14="http://schemas.microsoft.com/office/powerpoint/2010/main" val="41764493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6FF55BC-2CE0-DD39-5606-A4A0036B9847}"/>
              </a:ext>
            </a:extLst>
          </p:cNvPr>
          <p:cNvSpPr txBox="1"/>
          <p:nvPr/>
        </p:nvSpPr>
        <p:spPr>
          <a:xfrm>
            <a:off x="1371600" y="655983"/>
            <a:ext cx="4144617" cy="369332"/>
          </a:xfrm>
          <a:prstGeom prst="rect">
            <a:avLst/>
          </a:prstGeom>
          <a:noFill/>
        </p:spPr>
        <p:txBody>
          <a:bodyPr wrap="square" rtlCol="0">
            <a:spAutoFit/>
          </a:bodyPr>
          <a:lstStyle/>
          <a:p>
            <a:r>
              <a:rPr lang="en-GB" dirty="0"/>
              <a:t>Terraform</a:t>
            </a:r>
            <a:endParaRPr lang="en-IN" dirty="0"/>
          </a:p>
        </p:txBody>
      </p:sp>
      <p:sp>
        <p:nvSpPr>
          <p:cNvPr id="5" name="TextBox 4">
            <a:extLst>
              <a:ext uri="{FF2B5EF4-FFF2-40B4-BE49-F238E27FC236}">
                <a16:creationId xmlns:a16="http://schemas.microsoft.com/office/drawing/2014/main" id="{3A7F6598-325E-712D-442D-4E0491205F50}"/>
              </a:ext>
            </a:extLst>
          </p:cNvPr>
          <p:cNvSpPr txBox="1"/>
          <p:nvPr/>
        </p:nvSpPr>
        <p:spPr>
          <a:xfrm>
            <a:off x="971848" y="1674674"/>
            <a:ext cx="9494056" cy="3970318"/>
          </a:xfrm>
          <a:prstGeom prst="rect">
            <a:avLst/>
          </a:prstGeom>
          <a:noFill/>
        </p:spPr>
        <p:txBody>
          <a:bodyPr wrap="square">
            <a:spAutoFit/>
          </a:bodyPr>
          <a:lstStyle/>
          <a:p>
            <a:pPr>
              <a:buNone/>
            </a:pPr>
            <a:r>
              <a:rPr lang="en-US" dirty="0"/>
              <a:t>Main command for Terraform use on Daily Basis </a:t>
            </a:r>
            <a:br>
              <a:rPr lang="en-US" dirty="0"/>
            </a:br>
            <a:br>
              <a:rPr lang="en-US" dirty="0"/>
            </a:br>
            <a:r>
              <a:rPr lang="en-US" dirty="0"/>
              <a:t>Terraform </a:t>
            </a:r>
            <a:r>
              <a:rPr lang="en-US" dirty="0" err="1"/>
              <a:t>init</a:t>
            </a:r>
            <a:br>
              <a:rPr lang="en-US" dirty="0"/>
            </a:br>
            <a:br>
              <a:rPr lang="en-US" dirty="0"/>
            </a:br>
            <a:r>
              <a:rPr lang="en-US" dirty="0"/>
              <a:t>Terraform Plan :- </a:t>
            </a:r>
            <a:r>
              <a:rPr lang="en-GB" dirty="0"/>
              <a:t>Terraform creates an execution plan describing the infrastructure it will create, update, or destroy based on the existing infrastructure and your configuration.</a:t>
            </a:r>
            <a:br>
              <a:rPr lang="en-US" dirty="0"/>
            </a:br>
            <a:br>
              <a:rPr lang="en-US" dirty="0"/>
            </a:br>
            <a:r>
              <a:rPr lang="en-US" dirty="0"/>
              <a:t>Terraform Apply :-  </a:t>
            </a:r>
            <a:r>
              <a:rPr lang="en-GB" dirty="0"/>
              <a:t>On approval, Terraform performs the proposed operations in the correct order, respecting any resource dependencies. For example, if you update the properties of a VPC and change the number of virtual machines in that VPC, Terraform will recreate the VPC before scaling the virtual machines.</a:t>
            </a:r>
            <a:br>
              <a:rPr lang="en-US" dirty="0"/>
            </a:br>
            <a:br>
              <a:rPr lang="en-US" dirty="0"/>
            </a:br>
            <a:br>
              <a:rPr lang="en-US" dirty="0"/>
            </a:br>
            <a:r>
              <a:rPr lang="en-US" dirty="0"/>
              <a:t>Terraform Destroy :- it will destroy the resources  </a:t>
            </a:r>
          </a:p>
        </p:txBody>
      </p:sp>
      <p:cxnSp>
        <p:nvCxnSpPr>
          <p:cNvPr id="7" name="Straight Arrow Connector 6">
            <a:extLst>
              <a:ext uri="{FF2B5EF4-FFF2-40B4-BE49-F238E27FC236}">
                <a16:creationId xmlns:a16="http://schemas.microsoft.com/office/drawing/2014/main" id="{25D06D78-52EC-7A30-BBEC-2F97959B3B35}"/>
              </a:ext>
            </a:extLst>
          </p:cNvPr>
          <p:cNvCxnSpPr/>
          <p:nvPr/>
        </p:nvCxnSpPr>
        <p:spPr>
          <a:xfrm>
            <a:off x="1798983" y="2534478"/>
            <a:ext cx="0" cy="2385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7181D39-5087-8EEC-2273-EB5248B6B159}"/>
              </a:ext>
            </a:extLst>
          </p:cNvPr>
          <p:cNvCxnSpPr/>
          <p:nvPr/>
        </p:nvCxnSpPr>
        <p:spPr>
          <a:xfrm>
            <a:off x="1798983" y="3429000"/>
            <a:ext cx="0" cy="2385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0EC06BCF-419B-E3C2-E8A3-60840E252251}"/>
              </a:ext>
            </a:extLst>
          </p:cNvPr>
          <p:cNvCxnSpPr/>
          <p:nvPr/>
        </p:nvCxnSpPr>
        <p:spPr>
          <a:xfrm>
            <a:off x="1782420" y="4956310"/>
            <a:ext cx="0" cy="2385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87242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E49A38-B412-BC24-2430-5B75A9A6248F}"/>
              </a:ext>
            </a:extLst>
          </p:cNvPr>
          <p:cNvSpPr>
            <a:spLocks noGrp="1"/>
          </p:cNvSpPr>
          <p:nvPr>
            <p:ph type="title"/>
          </p:nvPr>
        </p:nvSpPr>
        <p:spPr/>
        <p:txBody>
          <a:bodyPr/>
          <a:lstStyle/>
          <a:p>
            <a:r>
              <a:rPr lang="en-GB" sz="1800" dirty="0">
                <a:solidFill>
                  <a:schemeClr val="tx1"/>
                </a:solidFill>
                <a:latin typeface="+mn-lt"/>
                <a:ea typeface="+mn-ea"/>
                <a:cs typeface="+mn-cs"/>
              </a:rPr>
              <a:t>Terraform State file </a:t>
            </a:r>
            <a:endParaRPr lang="en-IN" sz="1800" dirty="0">
              <a:solidFill>
                <a:schemeClr val="tx1"/>
              </a:solidFill>
              <a:latin typeface="+mn-lt"/>
              <a:ea typeface="+mn-ea"/>
              <a:cs typeface="+mn-cs"/>
            </a:endParaRPr>
          </a:p>
        </p:txBody>
      </p:sp>
      <p:sp>
        <p:nvSpPr>
          <p:cNvPr id="5" name="TextBox 4">
            <a:extLst>
              <a:ext uri="{FF2B5EF4-FFF2-40B4-BE49-F238E27FC236}">
                <a16:creationId xmlns:a16="http://schemas.microsoft.com/office/drawing/2014/main" id="{4A9200E6-61EB-ABB8-2ADA-50DD56DDE685}"/>
              </a:ext>
            </a:extLst>
          </p:cNvPr>
          <p:cNvSpPr txBox="1"/>
          <p:nvPr/>
        </p:nvSpPr>
        <p:spPr>
          <a:xfrm>
            <a:off x="677334" y="1437358"/>
            <a:ext cx="8347396" cy="1200329"/>
          </a:xfrm>
          <a:prstGeom prst="rect">
            <a:avLst/>
          </a:prstGeom>
          <a:noFill/>
        </p:spPr>
        <p:txBody>
          <a:bodyPr wrap="square">
            <a:spAutoFit/>
          </a:bodyPr>
          <a:lstStyle/>
          <a:p>
            <a:pPr>
              <a:spcBef>
                <a:spcPct val="0"/>
              </a:spcBef>
            </a:pPr>
            <a:r>
              <a:rPr lang="en-GB" dirty="0"/>
              <a:t>Terraform must store state about your managed infrastructure and configuration. This state is used by Terraform to map real world resources to your configuration, keep track of metadata, and to improve performance for large infrastructures.</a:t>
            </a:r>
            <a:endParaRPr lang="en-IN" dirty="0"/>
          </a:p>
        </p:txBody>
      </p:sp>
      <p:sp>
        <p:nvSpPr>
          <p:cNvPr id="6" name="Title 1">
            <a:extLst>
              <a:ext uri="{FF2B5EF4-FFF2-40B4-BE49-F238E27FC236}">
                <a16:creationId xmlns:a16="http://schemas.microsoft.com/office/drawing/2014/main" id="{784DC570-637C-952A-C5BB-F7A38A96397D}"/>
              </a:ext>
            </a:extLst>
          </p:cNvPr>
          <p:cNvSpPr txBox="1">
            <a:spLocks/>
          </p:cNvSpPr>
          <p:nvPr/>
        </p:nvSpPr>
        <p:spPr>
          <a:xfrm>
            <a:off x="677334" y="3028723"/>
            <a:ext cx="8596668" cy="1320800"/>
          </a:xfrm>
          <a:prstGeom prst="rect">
            <a:avLst/>
          </a:prstGeom>
        </p:spPr>
        <p:txBody>
          <a:bodyPr vert="horz" lIns="91440" tIns="45720" rIns="91440" bIns="45720" rtlCol="0" anchor="t">
            <a:normAutofit fontScale="250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sz="5500" dirty="0">
                <a:solidFill>
                  <a:schemeClr val="tx1"/>
                </a:solidFill>
                <a:latin typeface="+mn-lt"/>
                <a:ea typeface="+mn-ea"/>
                <a:cs typeface="+mn-cs"/>
              </a:rPr>
              <a:t>Terraform Modules</a:t>
            </a:r>
          </a:p>
          <a:p>
            <a:endParaRPr lang="en-GB" sz="5500" dirty="0">
              <a:solidFill>
                <a:schemeClr val="tx1"/>
              </a:solidFill>
              <a:latin typeface="+mn-lt"/>
              <a:ea typeface="+mn-ea"/>
              <a:cs typeface="+mn-cs"/>
            </a:endParaRPr>
          </a:p>
          <a:p>
            <a:br>
              <a:rPr lang="en-GB" sz="1800" dirty="0">
                <a:solidFill>
                  <a:schemeClr val="tx1"/>
                </a:solidFill>
                <a:latin typeface="+mn-lt"/>
                <a:ea typeface="+mn-ea"/>
                <a:cs typeface="+mn-cs"/>
              </a:rPr>
            </a:br>
            <a:br>
              <a:rPr lang="en-GB" sz="1800" dirty="0">
                <a:solidFill>
                  <a:schemeClr val="tx1"/>
                </a:solidFill>
                <a:latin typeface="+mn-lt"/>
                <a:ea typeface="+mn-ea"/>
                <a:cs typeface="+mn-cs"/>
              </a:rPr>
            </a:br>
            <a:r>
              <a:rPr lang="en-GB" sz="7200" dirty="0">
                <a:solidFill>
                  <a:schemeClr val="tx1"/>
                </a:solidFill>
                <a:latin typeface="+mn-lt"/>
                <a:ea typeface="+mn-ea"/>
                <a:cs typeface="+mn-cs"/>
              </a:rPr>
              <a:t>When you repeatedly provision collections of resources with similar configuration, such as networking resources for new development environments, you should write reusable modules to codify them. Modularizing and sharing configurations helps you standardize how you provision infrastructure and lets you quickly and predictably provision the resources you need.</a:t>
            </a:r>
            <a:endParaRPr lang="en-IN" sz="7200" dirty="0">
              <a:solidFill>
                <a:schemeClr val="tx1"/>
              </a:solidFill>
              <a:latin typeface="+mn-lt"/>
              <a:ea typeface="+mn-ea"/>
              <a:cs typeface="+mn-cs"/>
            </a:endParaRPr>
          </a:p>
        </p:txBody>
      </p:sp>
      <p:sp>
        <p:nvSpPr>
          <p:cNvPr id="8" name="TextBox 7">
            <a:extLst>
              <a:ext uri="{FF2B5EF4-FFF2-40B4-BE49-F238E27FC236}">
                <a16:creationId xmlns:a16="http://schemas.microsoft.com/office/drawing/2014/main" id="{6A0B89DC-95E0-9029-3ED6-9A60909A586B}"/>
              </a:ext>
            </a:extLst>
          </p:cNvPr>
          <p:cNvSpPr txBox="1"/>
          <p:nvPr/>
        </p:nvSpPr>
        <p:spPr>
          <a:xfrm>
            <a:off x="596348" y="5124680"/>
            <a:ext cx="6102626" cy="923330"/>
          </a:xfrm>
          <a:prstGeom prst="rect">
            <a:avLst/>
          </a:prstGeom>
          <a:noFill/>
        </p:spPr>
        <p:txBody>
          <a:bodyPr wrap="square">
            <a:spAutoFit/>
          </a:bodyPr>
          <a:lstStyle/>
          <a:p>
            <a:r>
              <a:rPr lang="en-IN" dirty="0"/>
              <a:t>Terraform registry link :- https://registry.terraform.io/browse/modules?product_intent=terraform</a:t>
            </a:r>
          </a:p>
        </p:txBody>
      </p:sp>
    </p:spTree>
    <p:extLst>
      <p:ext uri="{BB962C8B-B14F-4D97-AF65-F5344CB8AC3E}">
        <p14:creationId xmlns:p14="http://schemas.microsoft.com/office/powerpoint/2010/main" val="17000719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A30223C-72ED-B137-4484-289A2EABF20D}"/>
              </a:ext>
            </a:extLst>
          </p:cNvPr>
          <p:cNvSpPr txBox="1"/>
          <p:nvPr/>
        </p:nvSpPr>
        <p:spPr>
          <a:xfrm>
            <a:off x="685799" y="699916"/>
            <a:ext cx="7921487" cy="3970318"/>
          </a:xfrm>
          <a:prstGeom prst="rect">
            <a:avLst/>
          </a:prstGeom>
          <a:noFill/>
        </p:spPr>
        <p:txBody>
          <a:bodyPr wrap="square">
            <a:spAutoFit/>
          </a:bodyPr>
          <a:lstStyle/>
          <a:p>
            <a:r>
              <a:rPr lang="en-GB" sz="1800" dirty="0">
                <a:solidFill>
                  <a:schemeClr val="tx1"/>
                </a:solidFill>
                <a:latin typeface="+mn-lt"/>
                <a:ea typeface="+mn-ea"/>
                <a:cs typeface="+mn-cs"/>
              </a:rPr>
              <a:t>Terraform </a:t>
            </a:r>
            <a:r>
              <a:rPr lang="en-GB" dirty="0"/>
              <a:t>Provision :-</a:t>
            </a:r>
            <a:br>
              <a:rPr lang="en-GB" dirty="0"/>
            </a:br>
            <a:br>
              <a:rPr lang="en-GB" dirty="0"/>
            </a:br>
            <a:r>
              <a:rPr lang="en-GB" dirty="0"/>
              <a:t>We are creating the Resources on cloud from Terraform Script from our local machine when the Resource deployed successfully on cloud then this Process Terraform Provisioning.</a:t>
            </a:r>
            <a:br>
              <a:rPr lang="en-GB" dirty="0"/>
            </a:br>
            <a:br>
              <a:rPr lang="en-GB" dirty="0"/>
            </a:br>
            <a:br>
              <a:rPr lang="en-GB" dirty="0"/>
            </a:br>
            <a:r>
              <a:rPr lang="en-GB" dirty="0"/>
              <a:t>Terraform Variables :-  </a:t>
            </a:r>
          </a:p>
          <a:p>
            <a:endParaRPr lang="en-GB" sz="1800" dirty="0">
              <a:solidFill>
                <a:schemeClr val="tx1"/>
              </a:solidFill>
              <a:latin typeface="+mn-lt"/>
              <a:ea typeface="+mn-ea"/>
              <a:cs typeface="+mn-cs"/>
            </a:endParaRPr>
          </a:p>
          <a:p>
            <a:endParaRPr lang="en-GB" dirty="0"/>
          </a:p>
          <a:p>
            <a:endParaRPr lang="en-GB" sz="1800" dirty="0">
              <a:solidFill>
                <a:schemeClr val="tx1"/>
              </a:solidFill>
              <a:latin typeface="+mn-lt"/>
              <a:ea typeface="+mn-ea"/>
              <a:cs typeface="+mn-cs"/>
            </a:endParaRPr>
          </a:p>
          <a:p>
            <a:endParaRPr lang="en-GB" dirty="0"/>
          </a:p>
          <a:p>
            <a:r>
              <a:rPr lang="en-GB" sz="1800" dirty="0">
                <a:solidFill>
                  <a:schemeClr val="tx1"/>
                </a:solidFill>
                <a:latin typeface="+mn-lt"/>
                <a:ea typeface="+mn-ea"/>
                <a:cs typeface="+mn-cs"/>
              </a:rPr>
              <a:t>Terraform Backend :- Means we are taking the backup of existing terraform state files into the </a:t>
            </a:r>
            <a:r>
              <a:rPr lang="en-GB" dirty="0"/>
              <a:t>cloud </a:t>
            </a:r>
            <a:r>
              <a:rPr lang="en-GB" sz="1800" dirty="0">
                <a:solidFill>
                  <a:schemeClr val="tx1"/>
                </a:solidFill>
                <a:latin typeface="+mn-lt"/>
                <a:ea typeface="+mn-ea"/>
                <a:cs typeface="+mn-cs"/>
              </a:rPr>
              <a:t>Storage account</a:t>
            </a:r>
          </a:p>
        </p:txBody>
      </p:sp>
    </p:spTree>
    <p:extLst>
      <p:ext uri="{BB962C8B-B14F-4D97-AF65-F5344CB8AC3E}">
        <p14:creationId xmlns:p14="http://schemas.microsoft.com/office/powerpoint/2010/main" val="13604193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95492-85F0-0B83-4D7F-111F0DA8877E}"/>
              </a:ext>
            </a:extLst>
          </p:cNvPr>
          <p:cNvSpPr>
            <a:spLocks noGrp="1"/>
          </p:cNvSpPr>
          <p:nvPr>
            <p:ph type="title"/>
          </p:nvPr>
        </p:nvSpPr>
        <p:spPr/>
        <p:txBody>
          <a:bodyPr/>
          <a:lstStyle/>
          <a:p>
            <a:r>
              <a:rPr lang="en-GB" sz="1800" dirty="0">
                <a:solidFill>
                  <a:schemeClr val="tx1"/>
                </a:solidFill>
                <a:latin typeface="+mn-lt"/>
                <a:ea typeface="+mn-ea"/>
                <a:cs typeface="+mn-cs"/>
              </a:rPr>
              <a:t>Terraform interview Questions</a:t>
            </a:r>
            <a:endParaRPr lang="en-IN" sz="1800" dirty="0">
              <a:solidFill>
                <a:schemeClr val="tx1"/>
              </a:solidFill>
              <a:latin typeface="+mn-lt"/>
              <a:ea typeface="+mn-ea"/>
              <a:cs typeface="+mn-cs"/>
            </a:endParaRPr>
          </a:p>
        </p:txBody>
      </p:sp>
      <p:sp>
        <p:nvSpPr>
          <p:cNvPr id="3" name="Content Placeholder 2">
            <a:extLst>
              <a:ext uri="{FF2B5EF4-FFF2-40B4-BE49-F238E27FC236}">
                <a16:creationId xmlns:a16="http://schemas.microsoft.com/office/drawing/2014/main" id="{C5E52095-26C3-F61F-7166-4DB6DF0F0B2E}"/>
              </a:ext>
            </a:extLst>
          </p:cNvPr>
          <p:cNvSpPr>
            <a:spLocks noGrp="1"/>
          </p:cNvSpPr>
          <p:nvPr>
            <p:ph idx="1"/>
          </p:nvPr>
        </p:nvSpPr>
        <p:spPr>
          <a:xfrm>
            <a:off x="677334" y="1270000"/>
            <a:ext cx="9222040" cy="4733235"/>
          </a:xfrm>
        </p:spPr>
        <p:txBody>
          <a:bodyPr>
            <a:normAutofit fontScale="62500" lnSpcReduction="20000"/>
          </a:bodyPr>
          <a:lstStyle/>
          <a:p>
            <a:pPr marL="0" indent="0">
              <a:buNone/>
            </a:pPr>
            <a:r>
              <a:rPr lang="en-GB" b="1" dirty="0"/>
              <a:t>What terraform refresh command will do :-</a:t>
            </a:r>
            <a:br>
              <a:rPr lang="en-GB" b="1" dirty="0"/>
            </a:br>
            <a:br>
              <a:rPr lang="en-GB" dirty="0"/>
            </a:br>
            <a:r>
              <a:rPr lang="en-GB" dirty="0"/>
              <a:t>The terraform refresh command is used to reconcile the state Terraform knows about (via its state file) with the real-world infrastructure. This does not modify infrastructure but does modify the state file.</a:t>
            </a:r>
            <a:br>
              <a:rPr lang="en-GB" b="1" dirty="0"/>
            </a:br>
            <a:br>
              <a:rPr lang="en-GB" b="1" dirty="0"/>
            </a:br>
            <a:r>
              <a:rPr lang="en-GB" b="1" dirty="0"/>
              <a:t>Terraform Taint :- </a:t>
            </a:r>
            <a:r>
              <a:rPr lang="en-GB" dirty="0"/>
              <a:t>Once a resource is marked as tainted, the next plan will show that the resource will be destroyed and recreated and the next application will implement this change.</a:t>
            </a:r>
            <a:br>
              <a:rPr lang="en-GB" b="1" dirty="0"/>
            </a:br>
            <a:br>
              <a:rPr lang="en-GB" b="1" dirty="0"/>
            </a:br>
            <a:r>
              <a:rPr lang="en-GB" b="1" dirty="0"/>
              <a:t>What is terraform Import :- </a:t>
            </a:r>
            <a:r>
              <a:rPr lang="en-GB" dirty="0"/>
              <a:t>Terraform is able to import existing infrastructure. This allows you to take resources that you’ve created by some other means and bring them under Terraform management. The current implementation of Terraform import can only import resources into the state. It does not generate a configuration. Because of this, prior to running terraform import, it is necessary to write a resource configuration block manually for the resource, to which the imported object will be mapped</a:t>
            </a:r>
            <a:br>
              <a:rPr lang="en-GB" b="1" dirty="0"/>
            </a:br>
            <a:br>
              <a:rPr lang="en-GB" b="1" dirty="0"/>
            </a:br>
            <a:r>
              <a:rPr lang="en-GB" b="1" dirty="0"/>
              <a:t>Terraform State Lock Mechanics :- </a:t>
            </a:r>
            <a:r>
              <a:rPr lang="en-GB" dirty="0"/>
              <a:t>State locking happens automatically on all operations that could write state. You won’t see any message that it is happening. If state locking fails, Terraform will not continue. You can disable state locking for most commands with the -lock Terraform has a force-unlock command to manually unlock the state if unlocking failed.</a:t>
            </a:r>
            <a:br>
              <a:rPr lang="en-GB" b="1" dirty="0"/>
            </a:br>
            <a:br>
              <a:rPr lang="en-GB" b="1" dirty="0"/>
            </a:br>
            <a:r>
              <a:rPr lang="en-GB" b="1" dirty="0"/>
              <a:t>Command to unlock the terraform Lock :- </a:t>
            </a:r>
            <a:r>
              <a:rPr lang="en-IN" dirty="0"/>
              <a:t>terraform force-unlock &lt;LOCK_ID&gt;</a:t>
            </a:r>
            <a:br>
              <a:rPr lang="en-IN" b="1" dirty="0"/>
            </a:br>
            <a:br>
              <a:rPr lang="en-IN" b="1" dirty="0"/>
            </a:br>
            <a:r>
              <a:rPr lang="en-IN" b="1" dirty="0"/>
              <a:t>Where are you storing your terraform State file :- </a:t>
            </a:r>
            <a:r>
              <a:rPr lang="en-IN" dirty="0"/>
              <a:t>on cloud where if its S3 backend and Azure then </a:t>
            </a:r>
            <a:br>
              <a:rPr lang="en-IN" dirty="0"/>
            </a:br>
            <a:r>
              <a:rPr lang="en-IN" dirty="0"/>
              <a:t>Backend is Storage account</a:t>
            </a:r>
            <a:br>
              <a:rPr lang="en-IN" b="1" dirty="0"/>
            </a:br>
            <a:br>
              <a:rPr lang="en-IN" b="1" dirty="0"/>
            </a:br>
            <a:r>
              <a:rPr lang="en-IN" b="1" dirty="0"/>
              <a:t>Write the block of terraform :- </a:t>
            </a:r>
            <a:r>
              <a:rPr lang="en-IN" dirty="0"/>
              <a:t>S3 Backet , VPC , </a:t>
            </a:r>
            <a:r>
              <a:rPr lang="en-IN" dirty="0" err="1"/>
              <a:t>AWS_instance</a:t>
            </a:r>
            <a:r>
              <a:rPr lang="en-IN" dirty="0"/>
              <a:t> , Database , RDS </a:t>
            </a:r>
            <a:br>
              <a:rPr lang="en-IN" b="1" dirty="0"/>
            </a:br>
            <a:br>
              <a:rPr lang="en-IN" b="1" dirty="0"/>
            </a:br>
            <a:r>
              <a:rPr lang="en-IN" b="1" dirty="0"/>
              <a:t>if terraform state file is deleted so how you recover the current infra Details :- </a:t>
            </a:r>
            <a:r>
              <a:rPr lang="en-IN" dirty="0"/>
              <a:t>use the terraform import command to import the current to the local state file.</a:t>
            </a:r>
            <a:br>
              <a:rPr lang="en-IN" dirty="0"/>
            </a:br>
            <a:br>
              <a:rPr lang="en-IN" b="1" dirty="0"/>
            </a:br>
            <a:r>
              <a:rPr lang="en-IN" b="1" dirty="0"/>
              <a:t>How does terraform handle changes to infra resources that were not handled or managed by terraform</a:t>
            </a:r>
            <a:br>
              <a:rPr lang="en-IN" b="1" dirty="0"/>
            </a:br>
            <a:br>
              <a:rPr lang="en-IN" dirty="0"/>
            </a:br>
            <a:r>
              <a:rPr lang="en-IN" dirty="0" err="1"/>
              <a:t>Terraform</a:t>
            </a:r>
            <a:r>
              <a:rPr lang="en-IN" dirty="0"/>
              <a:t> has a feature called </a:t>
            </a:r>
            <a:r>
              <a:rPr lang="en-IN" b="1" dirty="0"/>
              <a:t>state drift </a:t>
            </a:r>
            <a:r>
              <a:rPr lang="en-IN" dirty="0"/>
              <a:t>that allows it to detect changes to infra resources that were not created or managed by terraform</a:t>
            </a:r>
            <a:br>
              <a:rPr lang="en-IN" dirty="0"/>
            </a:br>
            <a:r>
              <a:rPr lang="en-IN" dirty="0"/>
              <a:t>when terraform runs it compare that state of infra as recorded in the state file to the current state of infrastructure.</a:t>
            </a:r>
          </a:p>
        </p:txBody>
      </p:sp>
    </p:spTree>
    <p:extLst>
      <p:ext uri="{BB962C8B-B14F-4D97-AF65-F5344CB8AC3E}">
        <p14:creationId xmlns:p14="http://schemas.microsoft.com/office/powerpoint/2010/main" val="36528680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E0EE8D-CFE7-1BD2-E400-8F3FB95E7BDD}"/>
              </a:ext>
            </a:extLst>
          </p:cNvPr>
          <p:cNvSpPr>
            <a:spLocks noGrp="1"/>
          </p:cNvSpPr>
          <p:nvPr>
            <p:ph idx="1"/>
          </p:nvPr>
        </p:nvSpPr>
        <p:spPr>
          <a:xfrm>
            <a:off x="607761" y="262215"/>
            <a:ext cx="8596668" cy="3880773"/>
          </a:xfrm>
        </p:spPr>
        <p:txBody>
          <a:bodyPr>
            <a:normAutofit fontScale="85000" lnSpcReduction="10000"/>
          </a:bodyPr>
          <a:lstStyle/>
          <a:p>
            <a:r>
              <a:rPr lang="en-GB" dirty="0"/>
              <a:t>How does terraform handle the management of secrets , such as password and API Keys </a:t>
            </a:r>
            <a:br>
              <a:rPr lang="en-GB" dirty="0"/>
            </a:br>
            <a:br>
              <a:rPr lang="en-GB" dirty="0"/>
            </a:br>
            <a:r>
              <a:rPr lang="en-GB" dirty="0"/>
              <a:t>Terraform Provides a number of options for managing secrets , such as password and API keys , including storing secrets in Hashi Corp vault and referencing them in terraform configuration.</a:t>
            </a:r>
            <a:br>
              <a:rPr lang="en-GB" dirty="0"/>
            </a:br>
            <a:r>
              <a:rPr lang="en-GB" dirty="0"/>
              <a:t>System manager , secrets managers , Key Vault </a:t>
            </a:r>
            <a:br>
              <a:rPr lang="en-GB" dirty="0"/>
            </a:br>
            <a:br>
              <a:rPr lang="en-GB" dirty="0"/>
            </a:br>
            <a:r>
              <a:rPr lang="en-GB" dirty="0"/>
              <a:t>How does handle dependencies between resources.</a:t>
            </a:r>
            <a:br>
              <a:rPr lang="en-GB" dirty="0"/>
            </a:br>
            <a:r>
              <a:rPr lang="en-GB" dirty="0"/>
              <a:t>Terraform handles dependencies between resources by automatically determining between the correct order of resources creation and updates</a:t>
            </a:r>
            <a:br>
              <a:rPr lang="en-GB" dirty="0"/>
            </a:br>
            <a:r>
              <a:rPr lang="en-GB" dirty="0"/>
              <a:t>terraform tracks the dependencies between resources and ensures that resources are created and updated in the correct order to meet the dependencies.</a:t>
            </a:r>
            <a:br>
              <a:rPr lang="en-GB" dirty="0"/>
            </a:br>
            <a:br>
              <a:rPr lang="en-GB" dirty="0"/>
            </a:br>
            <a:r>
              <a:rPr lang="en-GB" dirty="0"/>
              <a:t>Terraform Data source :- </a:t>
            </a:r>
            <a:r>
              <a:rPr lang="en-GB" u="sng" dirty="0">
                <a:hlinkClick r:id="rId2"/>
              </a:rPr>
              <a:t>Data sources</a:t>
            </a:r>
            <a:r>
              <a:rPr lang="en-GB" dirty="0"/>
              <a:t> are an abstraction that allow Terraform to reference external data. Unlike </a:t>
            </a:r>
            <a:r>
              <a:rPr lang="en-GB" u="sng" dirty="0">
                <a:hlinkClick r:id="rId3"/>
              </a:rPr>
              <a:t>managed resources</a:t>
            </a:r>
            <a:r>
              <a:rPr lang="en-GB" dirty="0"/>
              <a:t>, Terraform does not manage the lifecycle of the resource or data. Data sources are intended to have no side-effects.</a:t>
            </a:r>
            <a:br>
              <a:rPr lang="en-GB" dirty="0"/>
            </a:br>
            <a:br>
              <a:rPr lang="en-GB" dirty="0"/>
            </a:br>
            <a:endParaRPr lang="en-IN" dirty="0"/>
          </a:p>
        </p:txBody>
      </p:sp>
      <p:pic>
        <p:nvPicPr>
          <p:cNvPr id="5" name="Picture 4">
            <a:extLst>
              <a:ext uri="{FF2B5EF4-FFF2-40B4-BE49-F238E27FC236}">
                <a16:creationId xmlns:a16="http://schemas.microsoft.com/office/drawing/2014/main" id="{97767256-FFB7-CE25-5737-993193F1EB08}"/>
              </a:ext>
            </a:extLst>
          </p:cNvPr>
          <p:cNvPicPr>
            <a:picLocks noChangeAspect="1"/>
          </p:cNvPicPr>
          <p:nvPr/>
        </p:nvPicPr>
        <p:blipFill>
          <a:blip r:embed="rId4"/>
          <a:stretch>
            <a:fillRect/>
          </a:stretch>
        </p:blipFill>
        <p:spPr>
          <a:xfrm>
            <a:off x="964995" y="3756991"/>
            <a:ext cx="7682048" cy="2965344"/>
          </a:xfrm>
          <a:prstGeom prst="rect">
            <a:avLst/>
          </a:prstGeom>
        </p:spPr>
      </p:pic>
    </p:spTree>
    <p:extLst>
      <p:ext uri="{BB962C8B-B14F-4D97-AF65-F5344CB8AC3E}">
        <p14:creationId xmlns:p14="http://schemas.microsoft.com/office/powerpoint/2010/main" val="27708861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D3226-6A18-A1A6-EF79-6955EA207912}"/>
              </a:ext>
            </a:extLst>
          </p:cNvPr>
          <p:cNvSpPr>
            <a:spLocks noGrp="1"/>
          </p:cNvSpPr>
          <p:nvPr>
            <p:ph type="title"/>
          </p:nvPr>
        </p:nvSpPr>
        <p:spPr/>
        <p:txBody>
          <a:bodyPr/>
          <a:lstStyle/>
          <a:p>
            <a:r>
              <a:rPr lang="en-GB" sz="1800" dirty="0">
                <a:solidFill>
                  <a:schemeClr val="tx1"/>
                </a:solidFill>
                <a:latin typeface="+mn-lt"/>
                <a:ea typeface="+mn-ea"/>
                <a:cs typeface="+mn-cs"/>
              </a:rPr>
              <a:t>Kubernetes</a:t>
            </a:r>
            <a:endParaRPr lang="en-IN" sz="1800" dirty="0">
              <a:solidFill>
                <a:schemeClr val="tx1"/>
              </a:solidFill>
              <a:latin typeface="+mn-lt"/>
              <a:ea typeface="+mn-ea"/>
              <a:cs typeface="+mn-cs"/>
            </a:endParaRPr>
          </a:p>
        </p:txBody>
      </p:sp>
    </p:spTree>
    <p:extLst>
      <p:ext uri="{BB962C8B-B14F-4D97-AF65-F5344CB8AC3E}">
        <p14:creationId xmlns:p14="http://schemas.microsoft.com/office/powerpoint/2010/main" val="316657253"/>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3682</TotalTime>
  <Words>2631</Words>
  <Application>Microsoft Office PowerPoint</Application>
  <PresentationFormat>Widescreen</PresentationFormat>
  <Paragraphs>269</Paragraphs>
  <Slides>34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Arial</vt:lpstr>
      <vt:lpstr>Consolas</vt:lpstr>
      <vt:lpstr>Courier New</vt:lpstr>
      <vt:lpstr>Nunito</vt:lpstr>
      <vt:lpstr>Trebuchet MS</vt:lpstr>
      <vt:lpstr>Wingdings 3</vt:lpstr>
      <vt:lpstr>Facet</vt:lpstr>
      <vt:lpstr>                     DevOps Prep</vt:lpstr>
      <vt:lpstr>PowerPoint Presentation</vt:lpstr>
      <vt:lpstr>PowerPoint Presentation</vt:lpstr>
      <vt:lpstr>PowerPoint Presentation</vt:lpstr>
      <vt:lpstr>PowerPoint Presentation</vt:lpstr>
      <vt:lpstr>Branching strategy </vt:lpstr>
      <vt:lpstr>Interview Question on Git  1. What is git/github  2. what is your branching strategy :- We create our feature branch and done our changes and push the changes into the master branch.  3. what is git rebase   4. what is git webhooks   5. what is source code  6. what is Difference between continuous Deployment and Continuous Delivery.    </vt:lpstr>
      <vt:lpstr>PowerPoint Presentation</vt:lpstr>
      <vt:lpstr>PowerPoint Presentation</vt:lpstr>
      <vt:lpstr>Interview question on Maven  1. what is maven  2. what is pom.xml :- Contains all the Dependency Configuration which is help to maven to build the application  3. which build tool you are using for building Java Application :- Maven   4. command use to build the application through Maven      mvn clean   mvn build   mvn package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Terraform State file </vt:lpstr>
      <vt:lpstr>PowerPoint Presentation</vt:lpstr>
      <vt:lpstr>Terraform interview Questions</vt:lpstr>
      <vt:lpstr>PowerPoint Presentation</vt:lpstr>
      <vt:lpstr>Kubernetes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Tarun chaudhary</dc:creator>
  <cp:lastModifiedBy>Tarun chaudhary</cp:lastModifiedBy>
  <cp:revision>35</cp:revision>
  <dcterms:created xsi:type="dcterms:W3CDTF">2026-03-22T07:01:13Z</dcterms:created>
  <dcterms:modified xsi:type="dcterms:W3CDTF">2026-05-02T12:35:58Z</dcterms:modified>
</cp:coreProperties>
</file>