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9" r:id="rId4"/>
    <p:sldId id="258" r:id="rId5"/>
    <p:sldId id="266" r:id="rId6"/>
    <p:sldId id="265" r:id="rId7"/>
    <p:sldId id="260" r:id="rId8"/>
    <p:sldId id="261" r:id="rId9"/>
    <p:sldId id="267" r:id="rId10"/>
    <p:sldId id="263" r:id="rId11"/>
    <p:sldId id="269" r:id="rId12"/>
    <p:sldId id="268" r:id="rId13"/>
    <p:sldId id="262"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AEC7"/>
    <a:srgbClr val="FEEC98"/>
    <a:srgbClr val="B1F6BA"/>
    <a:srgbClr val="B4F5BE"/>
    <a:srgbClr val="156082"/>
    <a:srgbClr val="B8FABF"/>
    <a:srgbClr val="AFF4B9"/>
    <a:srgbClr val="B4F3B9"/>
    <a:srgbClr val="877A31"/>
    <a:srgbClr val="FFFC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91E39F-A9C2-4A8B-9644-6D036061AE87}" v="5" dt="2026-03-22T11:10:11.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chaudhary" userId="33f5978ca32f71df" providerId="LiveId" clId="{0B70E307-6C57-4DF7-B7CD-0F105BE021E3}"/>
    <pc:docChg chg="undo custSel addSld modSld sldOrd">
      <pc:chgData name="Tarun chaudhary" userId="33f5978ca32f71df" providerId="LiveId" clId="{0B70E307-6C57-4DF7-B7CD-0F105BE021E3}" dt="2026-03-28T07:13:10.035" v="243" actId="478"/>
      <pc:docMkLst>
        <pc:docMk/>
      </pc:docMkLst>
      <pc:sldChg chg="delSp modSp mod">
        <pc:chgData name="Tarun chaudhary" userId="33f5978ca32f71df" providerId="LiveId" clId="{0B70E307-6C57-4DF7-B7CD-0F105BE021E3}" dt="2026-03-28T07:13:10.035" v="243" actId="478"/>
        <pc:sldMkLst>
          <pc:docMk/>
          <pc:sldMk cId="2365063082" sldId="256"/>
        </pc:sldMkLst>
        <pc:spChg chg="mod">
          <ac:chgData name="Tarun chaudhary" userId="33f5978ca32f71df" providerId="LiveId" clId="{0B70E307-6C57-4DF7-B7CD-0F105BE021E3}" dt="2026-03-22T11:14:29.013" v="241" actId="13926"/>
          <ac:spMkLst>
            <pc:docMk/>
            <pc:sldMk cId="2365063082" sldId="256"/>
            <ac:spMk id="7" creationId="{EAE6E354-D93F-FEFE-8969-83024D142637}"/>
          </ac:spMkLst>
        </pc:spChg>
        <pc:spChg chg="del mod">
          <ac:chgData name="Tarun chaudhary" userId="33f5978ca32f71df" providerId="LiveId" clId="{0B70E307-6C57-4DF7-B7CD-0F105BE021E3}" dt="2026-03-28T07:13:10.035" v="243" actId="478"/>
          <ac:spMkLst>
            <pc:docMk/>
            <pc:sldMk cId="2365063082" sldId="256"/>
            <ac:spMk id="8" creationId="{944FEF53-E842-29E2-CB9C-04BD14A3AC69}"/>
          </ac:spMkLst>
        </pc:spChg>
        <pc:picChg chg="mod">
          <ac:chgData name="Tarun chaudhary" userId="33f5978ca32f71df" providerId="LiveId" clId="{0B70E307-6C57-4DF7-B7CD-0F105BE021E3}" dt="2026-03-22T10:29:08.701" v="192" actId="1076"/>
          <ac:picMkLst>
            <pc:docMk/>
            <pc:sldMk cId="2365063082" sldId="256"/>
            <ac:picMk id="5" creationId="{4778BB18-D508-330F-841F-85BFB8FE2ABB}"/>
          </ac:picMkLst>
        </pc:picChg>
      </pc:sldChg>
      <pc:sldChg chg="modSp mod">
        <pc:chgData name="Tarun chaudhary" userId="33f5978ca32f71df" providerId="LiveId" clId="{0B70E307-6C57-4DF7-B7CD-0F105BE021E3}" dt="2026-03-22T11:12:33.464" v="232" actId="20577"/>
        <pc:sldMkLst>
          <pc:docMk/>
          <pc:sldMk cId="3838390954" sldId="257"/>
        </pc:sldMkLst>
        <pc:spChg chg="mod">
          <ac:chgData name="Tarun chaudhary" userId="33f5978ca32f71df" providerId="LiveId" clId="{0B70E307-6C57-4DF7-B7CD-0F105BE021E3}" dt="2026-03-22T11:12:33.464" v="232" actId="20577"/>
          <ac:spMkLst>
            <pc:docMk/>
            <pc:sldMk cId="3838390954" sldId="257"/>
            <ac:spMk id="5" creationId="{A173EBA9-A368-EC46-B430-211C229B1CF5}"/>
          </ac:spMkLst>
        </pc:spChg>
      </pc:sldChg>
      <pc:sldChg chg="addSp delSp modSp new mod">
        <pc:chgData name="Tarun chaudhary" userId="33f5978ca32f71df" providerId="LiveId" clId="{0B70E307-6C57-4DF7-B7CD-0F105BE021E3}" dt="2026-03-22T10:29:09.543" v="193" actId="20577"/>
        <pc:sldMkLst>
          <pc:docMk/>
          <pc:sldMk cId="2575638703" sldId="258"/>
        </pc:sldMkLst>
        <pc:spChg chg="add mod">
          <ac:chgData name="Tarun chaudhary" userId="33f5978ca32f71df" providerId="LiveId" clId="{0B70E307-6C57-4DF7-B7CD-0F105BE021E3}" dt="2026-03-22T10:29:09.543" v="193" actId="20577"/>
          <ac:spMkLst>
            <pc:docMk/>
            <pc:sldMk cId="2575638703" sldId="258"/>
            <ac:spMk id="4" creationId="{E007796A-62BE-243C-DCAF-4A73819A2A0D}"/>
          </ac:spMkLst>
        </pc:spChg>
      </pc:sldChg>
      <pc:sldChg chg="addSp delSp modSp new mod ord">
        <pc:chgData name="Tarun chaudhary" userId="33f5978ca32f71df" providerId="LiveId" clId="{0B70E307-6C57-4DF7-B7CD-0F105BE021E3}" dt="2026-03-22T09:08:01.605" v="169" actId="313"/>
        <pc:sldMkLst>
          <pc:docMk/>
          <pc:sldMk cId="1652720418" sldId="259"/>
        </pc:sldMkLst>
        <pc:spChg chg="add mod">
          <ac:chgData name="Tarun chaudhary" userId="33f5978ca32f71df" providerId="LiveId" clId="{0B70E307-6C57-4DF7-B7CD-0F105BE021E3}" dt="2026-03-22T08:45:45.910" v="130" actId="20577"/>
          <ac:spMkLst>
            <pc:docMk/>
            <pc:sldMk cId="1652720418" sldId="259"/>
            <ac:spMk id="5" creationId="{F40C815C-F8B1-9CF0-9A38-F0094AFD28DC}"/>
          </ac:spMkLst>
        </pc:spChg>
        <pc:spChg chg="add mod">
          <ac:chgData name="Tarun chaudhary" userId="33f5978ca32f71df" providerId="LiveId" clId="{0B70E307-6C57-4DF7-B7CD-0F105BE021E3}" dt="2026-03-22T09:08:01.605" v="169" actId="313"/>
          <ac:spMkLst>
            <pc:docMk/>
            <pc:sldMk cId="1652720418" sldId="259"/>
            <ac:spMk id="6" creationId="{58DE9643-FC8F-C1C0-0D22-E4BFBBE5A988}"/>
          </ac:spMkLst>
        </pc:spChg>
        <pc:spChg chg="add mod">
          <ac:chgData name="Tarun chaudhary" userId="33f5978ca32f71df" providerId="LiveId" clId="{0B70E307-6C57-4DF7-B7CD-0F105BE021E3}" dt="2026-03-22T08:47:18.093" v="152" actId="20577"/>
          <ac:spMkLst>
            <pc:docMk/>
            <pc:sldMk cId="1652720418" sldId="259"/>
            <ac:spMk id="8" creationId="{6CC9DCCC-178A-C5C3-2540-A7DAB35A038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3219060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250060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4187699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1A61A2-44F5-4304-B5D2-BA2533B9D5A3}"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4142939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1A61A2-44F5-4304-B5D2-BA2533B9D5A3}" type="datetimeFigureOut">
              <a:rPr lang="en-IN" smtClean="0"/>
              <a:t>28-03-2026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454547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1A61A2-44F5-4304-B5D2-BA2533B9D5A3}"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2974057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1A61A2-44F5-4304-B5D2-BA2533B9D5A3}" type="datetimeFigureOut">
              <a:rPr lang="en-IN" smtClean="0"/>
              <a:t>28-03-2026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966603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1A61A2-44F5-4304-B5D2-BA2533B9D5A3}"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327159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1A61A2-44F5-4304-B5D2-BA2533B9D5A3}"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2980738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631610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25948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747261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46373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440345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8258486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A61A2-44F5-4304-B5D2-BA2533B9D5A3}"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4B6C60-5B0C-439A-B135-FCE37F799B6C}" type="slidenum">
              <a:rPr lang="en-IN" smtClean="0"/>
              <a:t>‹#›</a:t>
            </a:fld>
            <a:endParaRPr lang="en-IN"/>
          </a:p>
        </p:txBody>
      </p:sp>
    </p:spTree>
    <p:extLst>
      <p:ext uri="{BB962C8B-B14F-4D97-AF65-F5344CB8AC3E}">
        <p14:creationId xmlns:p14="http://schemas.microsoft.com/office/powerpoint/2010/main" val="1918482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A1A61A2-44F5-4304-B5D2-BA2533B9D5A3}" type="datetimeFigureOut">
              <a:rPr lang="en-IN" smtClean="0"/>
              <a:t>28-03-2026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4B6C60-5B0C-439A-B135-FCE37F799B6C}" type="slidenum">
              <a:rPr lang="en-IN" smtClean="0"/>
              <a:t>‹#›</a:t>
            </a:fld>
            <a:endParaRPr lang="en-IN"/>
          </a:p>
        </p:txBody>
      </p:sp>
    </p:spTree>
    <p:extLst>
      <p:ext uri="{BB962C8B-B14F-4D97-AF65-F5344CB8AC3E}">
        <p14:creationId xmlns:p14="http://schemas.microsoft.com/office/powerpoint/2010/main" val="4479639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73EBA9-A368-EC46-B430-211C229B1CF5}"/>
              </a:ext>
            </a:extLst>
          </p:cNvPr>
          <p:cNvSpPr txBox="1"/>
          <p:nvPr/>
        </p:nvSpPr>
        <p:spPr>
          <a:xfrm>
            <a:off x="1232452" y="634515"/>
            <a:ext cx="9790044" cy="6555641"/>
          </a:xfrm>
          <a:prstGeom prst="rect">
            <a:avLst/>
          </a:prstGeom>
          <a:noFill/>
        </p:spPr>
        <p:txBody>
          <a:bodyPr wrap="square">
            <a:spAutoFit/>
          </a:bodyPr>
          <a:lstStyle/>
          <a:p>
            <a:r>
              <a:rPr lang="en-IN" sz="2400" b="1" dirty="0"/>
              <a:t>Content : </a:t>
            </a:r>
            <a:br>
              <a:rPr lang="en-IN" dirty="0"/>
            </a:br>
            <a:br>
              <a:rPr lang="en-IN" dirty="0"/>
            </a:br>
            <a:r>
              <a:rPr lang="en-IN" dirty="0"/>
              <a:t>1. Git/GitHub : Version Control</a:t>
            </a:r>
          </a:p>
          <a:p>
            <a:endParaRPr lang="en-IN" dirty="0"/>
          </a:p>
          <a:p>
            <a:r>
              <a:rPr lang="en-IN" dirty="0"/>
              <a:t>2. Application Package : .NET and Java : Code</a:t>
            </a:r>
          </a:p>
          <a:p>
            <a:endParaRPr lang="en-IN" dirty="0"/>
          </a:p>
          <a:p>
            <a:r>
              <a:rPr lang="en-IN" dirty="0"/>
              <a:t>3. CICD : Continues Integration  and Continues Deployment (Jenkins, Azure DevOps)</a:t>
            </a:r>
            <a:br>
              <a:rPr lang="en-IN" dirty="0"/>
            </a:br>
            <a:br>
              <a:rPr lang="en-IN" dirty="0"/>
            </a:br>
            <a:r>
              <a:rPr lang="en-IN" dirty="0"/>
              <a:t>4. SonarQube</a:t>
            </a:r>
            <a:br>
              <a:rPr lang="en-IN" dirty="0"/>
            </a:br>
            <a:br>
              <a:rPr lang="en-IN" dirty="0"/>
            </a:br>
            <a:r>
              <a:rPr lang="en-IN" dirty="0"/>
              <a:t>5. Docker</a:t>
            </a:r>
            <a:br>
              <a:rPr lang="en-IN" dirty="0"/>
            </a:br>
            <a:br>
              <a:rPr lang="en-IN" dirty="0"/>
            </a:br>
            <a:r>
              <a:rPr lang="en-IN" dirty="0"/>
              <a:t>6. Infrastructure as Code : Terraform</a:t>
            </a:r>
            <a:br>
              <a:rPr lang="en-IN" dirty="0"/>
            </a:br>
            <a:br>
              <a:rPr lang="en-IN" dirty="0"/>
            </a:br>
            <a:r>
              <a:rPr lang="en-IN" dirty="0"/>
              <a:t>7. Azure , AWS (Server, Coud VPC , EC2, S3 , VM , AKS , App Services , EKS , IAM)</a:t>
            </a:r>
          </a:p>
          <a:p>
            <a:endParaRPr lang="en-IN" dirty="0"/>
          </a:p>
          <a:p>
            <a:r>
              <a:rPr lang="en-IN" dirty="0"/>
              <a:t>8. Kubernetes</a:t>
            </a:r>
          </a:p>
          <a:p>
            <a:endParaRPr lang="en-IN" dirty="0"/>
          </a:p>
          <a:p>
            <a:r>
              <a:rPr lang="en-IN" dirty="0"/>
              <a:t>9. End to End Application Deployment on AKS and EKS</a:t>
            </a:r>
            <a:br>
              <a:rPr lang="en-IN" dirty="0"/>
            </a:br>
            <a:br>
              <a:rPr lang="en-IN" dirty="0"/>
            </a:br>
            <a:r>
              <a:rPr lang="en-IN" dirty="0"/>
              <a:t>10. Python</a:t>
            </a:r>
          </a:p>
          <a:p>
            <a:br>
              <a:rPr lang="en-IN" dirty="0"/>
            </a:br>
            <a:endParaRPr lang="en-IN" dirty="0"/>
          </a:p>
        </p:txBody>
      </p:sp>
    </p:spTree>
    <p:extLst>
      <p:ext uri="{BB962C8B-B14F-4D97-AF65-F5344CB8AC3E}">
        <p14:creationId xmlns:p14="http://schemas.microsoft.com/office/powerpoint/2010/main" val="3838390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78BB18-D508-330F-841F-85BFB8FE2ABB}"/>
              </a:ext>
            </a:extLst>
          </p:cNvPr>
          <p:cNvPicPr>
            <a:picLocks noChangeAspect="1"/>
          </p:cNvPicPr>
          <p:nvPr/>
        </p:nvPicPr>
        <p:blipFill>
          <a:blip r:embed="rId2"/>
          <a:stretch>
            <a:fillRect/>
          </a:stretch>
        </p:blipFill>
        <p:spPr>
          <a:xfrm>
            <a:off x="467933" y="634990"/>
            <a:ext cx="10992679" cy="5532989"/>
          </a:xfrm>
          <a:prstGeom prst="rect">
            <a:avLst/>
          </a:prstGeom>
          <a:ln>
            <a:solidFill>
              <a:srgbClr val="B1F6BA"/>
            </a:solidFill>
          </a:ln>
        </p:spPr>
      </p:pic>
      <p:sp>
        <p:nvSpPr>
          <p:cNvPr id="7" name="Rectangle: Rounded Corners 6">
            <a:extLst>
              <a:ext uri="{FF2B5EF4-FFF2-40B4-BE49-F238E27FC236}">
                <a16:creationId xmlns:a16="http://schemas.microsoft.com/office/drawing/2014/main" id="{EAE6E354-D93F-FEFE-8969-83024D142637}"/>
              </a:ext>
            </a:extLst>
          </p:cNvPr>
          <p:cNvSpPr/>
          <p:nvPr/>
        </p:nvSpPr>
        <p:spPr>
          <a:xfrm>
            <a:off x="4721087" y="2017644"/>
            <a:ext cx="3200399" cy="427383"/>
          </a:xfrm>
          <a:prstGeom prst="roundRect">
            <a:avLst/>
          </a:prstGeom>
          <a:solidFill>
            <a:srgbClr val="FEEC9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Container</a:t>
            </a:r>
            <a:r>
              <a:rPr lang="en-GB" dirty="0">
                <a:solidFill>
                  <a:schemeClr val="tx1"/>
                </a:solidFill>
                <a:highlight>
                  <a:srgbClr val="FFFF00"/>
                </a:highlight>
              </a:rPr>
              <a:t> </a:t>
            </a:r>
            <a:r>
              <a:rPr lang="en-GB" dirty="0">
                <a:solidFill>
                  <a:schemeClr val="tx1"/>
                </a:solidFill>
              </a:rPr>
              <a:t>Registry</a:t>
            </a:r>
            <a:r>
              <a:rPr lang="en-GB" dirty="0">
                <a:solidFill>
                  <a:schemeClr val="tx1"/>
                </a:solidFill>
                <a:highlight>
                  <a:srgbClr val="FFFF00"/>
                </a:highlight>
              </a:rPr>
              <a:t> </a:t>
            </a:r>
            <a:r>
              <a:rPr lang="en-GB" dirty="0">
                <a:solidFill>
                  <a:schemeClr val="tx1"/>
                </a:solidFill>
                <a:highlight>
                  <a:srgbClr val="FEEC98"/>
                </a:highlight>
              </a:rPr>
              <a:t>ACR</a:t>
            </a:r>
            <a:r>
              <a:rPr lang="en-GB" dirty="0">
                <a:solidFill>
                  <a:schemeClr val="tx1"/>
                </a:solidFill>
                <a:highlight>
                  <a:srgbClr val="FFFF00"/>
                </a:highlight>
              </a:rPr>
              <a:t> </a:t>
            </a:r>
            <a:endParaRPr lang="en-IN" dirty="0">
              <a:solidFill>
                <a:schemeClr val="tx1"/>
              </a:solidFill>
              <a:highlight>
                <a:srgbClr val="FFFF00"/>
              </a:highlight>
            </a:endParaRPr>
          </a:p>
        </p:txBody>
      </p:sp>
      <p:sp>
        <p:nvSpPr>
          <p:cNvPr id="2" name="Rectangle 1">
            <a:extLst>
              <a:ext uri="{FF2B5EF4-FFF2-40B4-BE49-F238E27FC236}">
                <a16:creationId xmlns:a16="http://schemas.microsoft.com/office/drawing/2014/main" id="{71ACA371-0333-115B-2862-4CAD68851C53}"/>
              </a:ext>
            </a:extLst>
          </p:cNvPr>
          <p:cNvSpPr/>
          <p:nvPr/>
        </p:nvSpPr>
        <p:spPr>
          <a:xfrm>
            <a:off x="630936" y="1920240"/>
            <a:ext cx="2505456" cy="3831336"/>
          </a:xfrm>
          <a:prstGeom prst="rect">
            <a:avLst/>
          </a:prstGeom>
          <a:noFill/>
          <a:ln w="476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highlight>
                <a:srgbClr val="000000"/>
              </a:highlight>
            </a:endParaRPr>
          </a:p>
        </p:txBody>
      </p:sp>
      <p:cxnSp>
        <p:nvCxnSpPr>
          <p:cNvPr id="4" name="Connector: Elbow 3">
            <a:extLst>
              <a:ext uri="{FF2B5EF4-FFF2-40B4-BE49-F238E27FC236}">
                <a16:creationId xmlns:a16="http://schemas.microsoft.com/office/drawing/2014/main" id="{0993DDF7-EEB3-14ED-E285-478A2DA8AF42}"/>
              </a:ext>
            </a:extLst>
          </p:cNvPr>
          <p:cNvCxnSpPr/>
          <p:nvPr/>
        </p:nvCxnSpPr>
        <p:spPr>
          <a:xfrm rot="16200000" flipH="1">
            <a:off x="3058668" y="4183380"/>
            <a:ext cx="850392" cy="69494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B52FF5C-ED79-3448-EEF7-867FA2A7A538}"/>
              </a:ext>
            </a:extLst>
          </p:cNvPr>
          <p:cNvSpPr/>
          <p:nvPr/>
        </p:nvSpPr>
        <p:spPr>
          <a:xfrm>
            <a:off x="3291840" y="4946904"/>
            <a:ext cx="1106424" cy="10149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CI Part run by </a:t>
            </a:r>
            <a:br>
              <a:rPr lang="en-IN" dirty="0">
                <a:solidFill>
                  <a:schemeClr val="tx1"/>
                </a:solidFill>
              </a:rPr>
            </a:br>
            <a:r>
              <a:rPr lang="en-IN" dirty="0">
                <a:solidFill>
                  <a:schemeClr val="tx1"/>
                </a:solidFill>
              </a:rPr>
              <a:t>-Jenkins</a:t>
            </a:r>
          </a:p>
        </p:txBody>
      </p:sp>
      <p:sp>
        <p:nvSpPr>
          <p:cNvPr id="8" name="Rectangle 7">
            <a:extLst>
              <a:ext uri="{FF2B5EF4-FFF2-40B4-BE49-F238E27FC236}">
                <a16:creationId xmlns:a16="http://schemas.microsoft.com/office/drawing/2014/main" id="{E3A90677-43A6-EB03-5C12-D05D154F061F}"/>
              </a:ext>
            </a:extLst>
          </p:cNvPr>
          <p:cNvSpPr/>
          <p:nvPr/>
        </p:nvSpPr>
        <p:spPr>
          <a:xfrm>
            <a:off x="4570210" y="2871216"/>
            <a:ext cx="3575304" cy="2907792"/>
          </a:xfrm>
          <a:prstGeom prst="rect">
            <a:avLst/>
          </a:prstGeom>
          <a:noFill/>
          <a:ln w="476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highlight>
                <a:srgbClr val="000000"/>
              </a:highlight>
            </a:endParaRPr>
          </a:p>
        </p:txBody>
      </p:sp>
      <p:sp>
        <p:nvSpPr>
          <p:cNvPr id="9" name="Rectangle 8">
            <a:extLst>
              <a:ext uri="{FF2B5EF4-FFF2-40B4-BE49-F238E27FC236}">
                <a16:creationId xmlns:a16="http://schemas.microsoft.com/office/drawing/2014/main" id="{FF2508F8-A560-0BC1-8F1D-A768B81AF16C}"/>
              </a:ext>
            </a:extLst>
          </p:cNvPr>
          <p:cNvSpPr/>
          <p:nvPr/>
        </p:nvSpPr>
        <p:spPr>
          <a:xfrm>
            <a:off x="8299172" y="4983480"/>
            <a:ext cx="1106424"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CD Part run by </a:t>
            </a:r>
            <a:br>
              <a:rPr lang="en-IN" dirty="0">
                <a:solidFill>
                  <a:schemeClr val="tx1"/>
                </a:solidFill>
              </a:rPr>
            </a:br>
            <a:r>
              <a:rPr lang="en-IN" dirty="0">
                <a:solidFill>
                  <a:schemeClr val="tx1"/>
                </a:solidFill>
              </a:rPr>
              <a:t>-Jenkins</a:t>
            </a:r>
          </a:p>
        </p:txBody>
      </p:sp>
      <p:cxnSp>
        <p:nvCxnSpPr>
          <p:cNvPr id="10" name="Connector: Elbow 9">
            <a:extLst>
              <a:ext uri="{FF2B5EF4-FFF2-40B4-BE49-F238E27FC236}">
                <a16:creationId xmlns:a16="http://schemas.microsoft.com/office/drawing/2014/main" id="{CDBDA40B-5B35-9736-E527-7C92C83EB908}"/>
              </a:ext>
            </a:extLst>
          </p:cNvPr>
          <p:cNvCxnSpPr/>
          <p:nvPr/>
        </p:nvCxnSpPr>
        <p:spPr>
          <a:xfrm rot="16200000" flipH="1">
            <a:off x="8067790" y="4194048"/>
            <a:ext cx="850392" cy="69494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22581E3-A118-C51F-EB54-90C91E6D9150}"/>
              </a:ext>
            </a:extLst>
          </p:cNvPr>
          <p:cNvSpPr/>
          <p:nvPr/>
        </p:nvSpPr>
        <p:spPr>
          <a:xfrm>
            <a:off x="8631936" y="5961888"/>
            <a:ext cx="2816352"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888FB3CB-0903-2331-04D5-F55D2C0C05DD}"/>
              </a:ext>
            </a:extLst>
          </p:cNvPr>
          <p:cNvSpPr/>
          <p:nvPr/>
        </p:nvSpPr>
        <p:spPr>
          <a:xfrm>
            <a:off x="978408" y="3941064"/>
            <a:ext cx="1719072" cy="530352"/>
          </a:xfrm>
          <a:prstGeom prst="roundRect">
            <a:avLst/>
          </a:prstGeom>
          <a:solidFill>
            <a:srgbClr val="D2AEC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Build Application </a:t>
            </a:r>
          </a:p>
        </p:txBody>
      </p:sp>
      <p:sp>
        <p:nvSpPr>
          <p:cNvPr id="14" name="Rectangle 13">
            <a:extLst>
              <a:ext uri="{FF2B5EF4-FFF2-40B4-BE49-F238E27FC236}">
                <a16:creationId xmlns:a16="http://schemas.microsoft.com/office/drawing/2014/main" id="{4D85A69A-6AD6-DE15-EC43-1D5B74A9097A}"/>
              </a:ext>
            </a:extLst>
          </p:cNvPr>
          <p:cNvSpPr/>
          <p:nvPr/>
        </p:nvSpPr>
        <p:spPr>
          <a:xfrm>
            <a:off x="3145536" y="1920240"/>
            <a:ext cx="4999978" cy="640080"/>
          </a:xfrm>
          <a:prstGeom prst="rect">
            <a:avLst/>
          </a:prstGeom>
          <a:noFill/>
          <a:ln w="476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highlight>
                <a:srgbClr val="000000"/>
              </a:highlight>
            </a:endParaRPr>
          </a:p>
        </p:txBody>
      </p:sp>
      <p:sp>
        <p:nvSpPr>
          <p:cNvPr id="15" name="Rectangle 14">
            <a:extLst>
              <a:ext uri="{FF2B5EF4-FFF2-40B4-BE49-F238E27FC236}">
                <a16:creationId xmlns:a16="http://schemas.microsoft.com/office/drawing/2014/main" id="{B4F00032-57C8-4CE2-0565-F4E8A0E31753}"/>
              </a:ext>
            </a:extLst>
          </p:cNvPr>
          <p:cNvSpPr/>
          <p:nvPr/>
        </p:nvSpPr>
        <p:spPr>
          <a:xfrm>
            <a:off x="2816352" y="1944492"/>
            <a:ext cx="859536" cy="615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056B884F-6999-E46E-0953-895374033A0D}"/>
              </a:ext>
            </a:extLst>
          </p:cNvPr>
          <p:cNvSpPr/>
          <p:nvPr/>
        </p:nvSpPr>
        <p:spPr>
          <a:xfrm>
            <a:off x="9444954" y="2029250"/>
            <a:ext cx="2042692" cy="3276732"/>
          </a:xfrm>
          <a:prstGeom prst="rect">
            <a:avLst/>
          </a:prstGeom>
          <a:noFill/>
          <a:ln w="44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A8539A09-D065-422C-A807-B4DF5F20E19B}"/>
              </a:ext>
            </a:extLst>
          </p:cNvPr>
          <p:cNvCxnSpPr>
            <a:stCxn id="16" idx="2"/>
          </p:cNvCxnSpPr>
          <p:nvPr/>
        </p:nvCxnSpPr>
        <p:spPr>
          <a:xfrm>
            <a:off x="10466300" y="5305982"/>
            <a:ext cx="0" cy="473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E460A2F-B18A-95C0-7380-129E27236037}"/>
              </a:ext>
            </a:extLst>
          </p:cNvPr>
          <p:cNvSpPr/>
          <p:nvPr/>
        </p:nvSpPr>
        <p:spPr>
          <a:xfrm>
            <a:off x="9765794" y="5704096"/>
            <a:ext cx="1534600" cy="4164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monitoring</a:t>
            </a:r>
          </a:p>
        </p:txBody>
      </p:sp>
    </p:spTree>
    <p:extLst>
      <p:ext uri="{BB962C8B-B14F-4D97-AF65-F5344CB8AC3E}">
        <p14:creationId xmlns:p14="http://schemas.microsoft.com/office/powerpoint/2010/main" val="236506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0C815C-F8B1-9CF0-9A38-F0094AFD28DC}"/>
              </a:ext>
            </a:extLst>
          </p:cNvPr>
          <p:cNvSpPr txBox="1"/>
          <p:nvPr/>
        </p:nvSpPr>
        <p:spPr>
          <a:xfrm>
            <a:off x="1172817" y="901941"/>
            <a:ext cx="9879496" cy="2308324"/>
          </a:xfrm>
          <a:prstGeom prst="rect">
            <a:avLst/>
          </a:prstGeom>
          <a:noFill/>
        </p:spPr>
        <p:txBody>
          <a:bodyPr wrap="square">
            <a:spAutoFit/>
          </a:bodyPr>
          <a:lstStyle/>
          <a:p>
            <a:pPr>
              <a:buFont typeface="Arial" panose="020B0604020202020204" pitchFamily="34" charset="0"/>
              <a:buChar char="•"/>
            </a:pPr>
            <a:r>
              <a:rPr lang="en-GB" dirty="0"/>
              <a:t>Git is a </a:t>
            </a:r>
            <a:r>
              <a:rPr lang="en-GB" b="1" dirty="0"/>
              <a:t>Distributed Version Control System (DVCS)</a:t>
            </a:r>
            <a:br>
              <a:rPr lang="en-GB" b="1" dirty="0"/>
            </a:br>
            <a:endParaRPr lang="en-GB" dirty="0"/>
          </a:p>
          <a:p>
            <a:pPr>
              <a:buFont typeface="Arial" panose="020B0604020202020204" pitchFamily="34" charset="0"/>
              <a:buChar char="•"/>
            </a:pPr>
            <a:r>
              <a:rPr lang="en-GB" dirty="0"/>
              <a:t>Tracks changes in code</a:t>
            </a:r>
          </a:p>
          <a:p>
            <a:pPr>
              <a:buFont typeface="Arial" panose="020B0604020202020204" pitchFamily="34" charset="0"/>
              <a:buChar char="•"/>
            </a:pPr>
            <a:r>
              <a:rPr lang="en-GB" dirty="0"/>
              <a:t>Allows multiple developers to collaborate</a:t>
            </a:r>
          </a:p>
          <a:p>
            <a:pPr>
              <a:buNone/>
            </a:pPr>
            <a:br>
              <a:rPr lang="en-GB" dirty="0"/>
            </a:br>
            <a:br>
              <a:rPr lang="en-GB" dirty="0"/>
            </a:br>
            <a:r>
              <a:rPr lang="en-GB" dirty="0"/>
              <a:t>👉 Simple line:</a:t>
            </a:r>
            <a:br>
              <a:rPr lang="en-GB" dirty="0"/>
            </a:br>
            <a:r>
              <a:rPr lang="en-GB" b="1" dirty="0"/>
              <a:t>“Git helps you track, manage, and collaborate on code changes.”</a:t>
            </a:r>
            <a:endParaRPr lang="en-GB" dirty="0"/>
          </a:p>
        </p:txBody>
      </p:sp>
      <p:sp>
        <p:nvSpPr>
          <p:cNvPr id="6" name="TextBox 5">
            <a:extLst>
              <a:ext uri="{FF2B5EF4-FFF2-40B4-BE49-F238E27FC236}">
                <a16:creationId xmlns:a16="http://schemas.microsoft.com/office/drawing/2014/main" id="{58DE9643-FC8F-C1C0-0D22-E4BFBBE5A988}"/>
              </a:ext>
            </a:extLst>
          </p:cNvPr>
          <p:cNvSpPr txBox="1"/>
          <p:nvPr/>
        </p:nvSpPr>
        <p:spPr>
          <a:xfrm>
            <a:off x="5406888" y="178904"/>
            <a:ext cx="2773017" cy="369332"/>
          </a:xfrm>
          <a:prstGeom prst="rect">
            <a:avLst/>
          </a:prstGeom>
          <a:noFill/>
        </p:spPr>
        <p:txBody>
          <a:bodyPr wrap="square" rtlCol="0">
            <a:spAutoFit/>
          </a:bodyPr>
          <a:lstStyle/>
          <a:p>
            <a:r>
              <a:rPr lang="en-GB" b="1" dirty="0"/>
              <a:t>Git/GitHub</a:t>
            </a:r>
            <a:endParaRPr lang="en-IN" b="1" dirty="0"/>
          </a:p>
        </p:txBody>
      </p:sp>
      <p:sp>
        <p:nvSpPr>
          <p:cNvPr id="8" name="TextBox 7">
            <a:extLst>
              <a:ext uri="{FF2B5EF4-FFF2-40B4-BE49-F238E27FC236}">
                <a16:creationId xmlns:a16="http://schemas.microsoft.com/office/drawing/2014/main" id="{6CC9DCCC-178A-C5C3-2540-A7DAB35A0382}"/>
              </a:ext>
            </a:extLst>
          </p:cNvPr>
          <p:cNvSpPr txBox="1"/>
          <p:nvPr/>
        </p:nvSpPr>
        <p:spPr>
          <a:xfrm>
            <a:off x="1172817" y="3563970"/>
            <a:ext cx="7136296" cy="2585323"/>
          </a:xfrm>
          <a:prstGeom prst="rect">
            <a:avLst/>
          </a:prstGeom>
          <a:noFill/>
        </p:spPr>
        <p:txBody>
          <a:bodyPr wrap="square">
            <a:spAutoFit/>
          </a:bodyPr>
          <a:lstStyle/>
          <a:p>
            <a:pPr>
              <a:buNone/>
            </a:pPr>
            <a:r>
              <a:rPr lang="en-GB" b="1" dirty="0"/>
              <a:t>Basic Git Workflow</a:t>
            </a:r>
          </a:p>
          <a:p>
            <a:pPr>
              <a:buNone/>
            </a:pPr>
            <a:endParaRPr lang="en-GB" b="1" dirty="0"/>
          </a:p>
          <a:p>
            <a:pPr>
              <a:buFont typeface="+mj-lt"/>
              <a:buAutoNum type="arabicPeriod"/>
            </a:pPr>
            <a:r>
              <a:rPr lang="en-GB" dirty="0"/>
              <a:t>Create/modify file</a:t>
            </a:r>
          </a:p>
          <a:p>
            <a:pPr>
              <a:buFont typeface="+mj-lt"/>
              <a:buAutoNum type="arabicPeriod"/>
            </a:pPr>
            <a:endParaRPr lang="en-GB" dirty="0"/>
          </a:p>
          <a:p>
            <a:pPr>
              <a:buFont typeface="+mj-lt"/>
              <a:buAutoNum type="arabicPeriod"/>
            </a:pPr>
            <a:r>
              <a:rPr lang="en-GB" dirty="0"/>
              <a:t>Add to staging</a:t>
            </a:r>
          </a:p>
          <a:p>
            <a:pPr>
              <a:buFont typeface="+mj-lt"/>
              <a:buAutoNum type="arabicPeriod"/>
            </a:pPr>
            <a:endParaRPr lang="en-GB" dirty="0"/>
          </a:p>
          <a:p>
            <a:pPr>
              <a:buFont typeface="+mj-lt"/>
              <a:buAutoNum type="arabicPeriod"/>
            </a:pPr>
            <a:r>
              <a:rPr lang="en-GB" dirty="0"/>
              <a:t>Commit changes</a:t>
            </a:r>
          </a:p>
          <a:p>
            <a:pPr>
              <a:buFont typeface="+mj-lt"/>
              <a:buAutoNum type="arabicPeriod"/>
            </a:pPr>
            <a:endParaRPr lang="en-GB" dirty="0"/>
          </a:p>
          <a:p>
            <a:pPr>
              <a:buFont typeface="+mj-lt"/>
              <a:buAutoNum type="arabicPeriod"/>
            </a:pPr>
            <a:r>
              <a:rPr lang="en-GB" dirty="0"/>
              <a:t>Push to remote/central repo</a:t>
            </a:r>
          </a:p>
        </p:txBody>
      </p:sp>
    </p:spTree>
    <p:extLst>
      <p:ext uri="{BB962C8B-B14F-4D97-AF65-F5344CB8AC3E}">
        <p14:creationId xmlns:p14="http://schemas.microsoft.com/office/powerpoint/2010/main" val="165272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07796A-62BE-243C-DCAF-4A73819A2A0D}"/>
              </a:ext>
            </a:extLst>
          </p:cNvPr>
          <p:cNvSpPr txBox="1"/>
          <p:nvPr/>
        </p:nvSpPr>
        <p:spPr>
          <a:xfrm>
            <a:off x="1182757" y="745435"/>
            <a:ext cx="7762460" cy="4247317"/>
          </a:xfrm>
          <a:prstGeom prst="rect">
            <a:avLst/>
          </a:prstGeom>
          <a:noFill/>
        </p:spPr>
        <p:txBody>
          <a:bodyPr wrap="square" rtlCol="0">
            <a:spAutoFit/>
          </a:bodyPr>
          <a:lstStyle/>
          <a:p>
            <a:r>
              <a:rPr lang="en-IN" b="1" dirty="0"/>
              <a:t>                      Important Git commands for Daily use</a:t>
            </a:r>
          </a:p>
          <a:p>
            <a:endParaRPr lang="en-IN" dirty="0"/>
          </a:p>
          <a:p>
            <a:r>
              <a:rPr lang="en-IN" dirty="0"/>
              <a:t>git </a:t>
            </a:r>
            <a:r>
              <a:rPr lang="en-IN" dirty="0" err="1"/>
              <a:t>init</a:t>
            </a:r>
            <a:r>
              <a:rPr lang="en-IN" dirty="0"/>
              <a:t>          # Initialize repo</a:t>
            </a:r>
          </a:p>
          <a:p>
            <a:endParaRPr lang="en-IN" dirty="0"/>
          </a:p>
          <a:p>
            <a:r>
              <a:rPr lang="en-IN" dirty="0"/>
              <a:t>git clone &lt;</a:t>
            </a:r>
            <a:r>
              <a:rPr lang="en-IN" dirty="0" err="1"/>
              <a:t>url</a:t>
            </a:r>
            <a:r>
              <a:rPr lang="en-IN" dirty="0"/>
              <a:t>&gt;   # Copy repo</a:t>
            </a:r>
          </a:p>
          <a:p>
            <a:endParaRPr lang="en-IN" dirty="0"/>
          </a:p>
          <a:p>
            <a:r>
              <a:rPr lang="en-IN" dirty="0"/>
              <a:t>git status        # Check changes</a:t>
            </a:r>
          </a:p>
          <a:p>
            <a:endParaRPr lang="en-IN" dirty="0"/>
          </a:p>
          <a:p>
            <a:r>
              <a:rPr lang="en-IN" dirty="0"/>
              <a:t>git add .         # Add files</a:t>
            </a:r>
          </a:p>
          <a:p>
            <a:endParaRPr lang="en-IN" dirty="0"/>
          </a:p>
          <a:p>
            <a:r>
              <a:rPr lang="en-IN" dirty="0"/>
              <a:t>git commit -m "</a:t>
            </a:r>
            <a:r>
              <a:rPr lang="en-IN" dirty="0" err="1"/>
              <a:t>msg</a:t>
            </a:r>
            <a:r>
              <a:rPr lang="en-IN" dirty="0"/>
              <a:t>"  # Save changes</a:t>
            </a:r>
          </a:p>
          <a:p>
            <a:endParaRPr lang="en-IN" dirty="0"/>
          </a:p>
          <a:p>
            <a:r>
              <a:rPr lang="en-IN" dirty="0"/>
              <a:t>git push          # Upload code</a:t>
            </a:r>
          </a:p>
          <a:p>
            <a:endParaRPr lang="en-IN" dirty="0"/>
          </a:p>
          <a:p>
            <a:r>
              <a:rPr lang="en-IN" dirty="0"/>
              <a:t>git pull          # Get latest code</a:t>
            </a:r>
          </a:p>
        </p:txBody>
      </p:sp>
    </p:spTree>
    <p:extLst>
      <p:ext uri="{BB962C8B-B14F-4D97-AF65-F5344CB8AC3E}">
        <p14:creationId xmlns:p14="http://schemas.microsoft.com/office/powerpoint/2010/main" val="2575638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BEB9-31ED-C36E-41CB-62C32CECCD6E}"/>
              </a:ext>
            </a:extLst>
          </p:cNvPr>
          <p:cNvSpPr>
            <a:spLocks noGrp="1"/>
          </p:cNvSpPr>
          <p:nvPr>
            <p:ph type="title"/>
          </p:nvPr>
        </p:nvSpPr>
        <p:spPr>
          <a:xfrm>
            <a:off x="677334" y="329184"/>
            <a:ext cx="9207330" cy="5870448"/>
          </a:xfrm>
          <a:ln>
            <a:solidFill>
              <a:schemeClr val="tx1"/>
            </a:solidFill>
          </a:ln>
        </p:spPr>
        <p:txBody>
          <a:bodyPr/>
          <a:lstStyle/>
          <a:p>
            <a:r>
              <a:rPr lang="en-IN" b="1" dirty="0">
                <a:solidFill>
                  <a:schemeClr val="tx1"/>
                </a:solidFill>
              </a:rPr>
              <a:t>Branching strategy </a:t>
            </a:r>
          </a:p>
        </p:txBody>
      </p:sp>
      <p:sp>
        <p:nvSpPr>
          <p:cNvPr id="4" name="Rectangle 3">
            <a:extLst>
              <a:ext uri="{FF2B5EF4-FFF2-40B4-BE49-F238E27FC236}">
                <a16:creationId xmlns:a16="http://schemas.microsoft.com/office/drawing/2014/main" id="{071ECFE3-D047-0432-AF81-85D8583262BD}"/>
              </a:ext>
            </a:extLst>
          </p:cNvPr>
          <p:cNvSpPr/>
          <p:nvPr/>
        </p:nvSpPr>
        <p:spPr>
          <a:xfrm>
            <a:off x="3959352" y="1243584"/>
            <a:ext cx="1828800" cy="11201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Main branch in which DevOps Team merge the changes </a:t>
            </a:r>
          </a:p>
        </p:txBody>
      </p:sp>
      <p:sp>
        <p:nvSpPr>
          <p:cNvPr id="6" name="Rectangle 5">
            <a:extLst>
              <a:ext uri="{FF2B5EF4-FFF2-40B4-BE49-F238E27FC236}">
                <a16:creationId xmlns:a16="http://schemas.microsoft.com/office/drawing/2014/main" id="{1AB10C01-ADAC-01BD-F8A3-B823439094C3}"/>
              </a:ext>
            </a:extLst>
          </p:cNvPr>
          <p:cNvSpPr/>
          <p:nvPr/>
        </p:nvSpPr>
        <p:spPr>
          <a:xfrm>
            <a:off x="3968496" y="2868930"/>
            <a:ext cx="1819656" cy="11201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Development branch in which Developer push the code </a:t>
            </a:r>
          </a:p>
        </p:txBody>
      </p:sp>
      <p:sp>
        <p:nvSpPr>
          <p:cNvPr id="7" name="Rectangle 6">
            <a:extLst>
              <a:ext uri="{FF2B5EF4-FFF2-40B4-BE49-F238E27FC236}">
                <a16:creationId xmlns:a16="http://schemas.microsoft.com/office/drawing/2014/main" id="{AA309E83-9AE5-C464-E6BA-A4F95007E1AB}"/>
              </a:ext>
            </a:extLst>
          </p:cNvPr>
          <p:cNvSpPr/>
          <p:nvPr/>
        </p:nvSpPr>
        <p:spPr>
          <a:xfrm>
            <a:off x="3968496" y="4572000"/>
            <a:ext cx="1828800" cy="11201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Featured branch in which Developer is working </a:t>
            </a:r>
          </a:p>
        </p:txBody>
      </p:sp>
      <p:cxnSp>
        <p:nvCxnSpPr>
          <p:cNvPr id="9" name="Straight Arrow Connector 8">
            <a:extLst>
              <a:ext uri="{FF2B5EF4-FFF2-40B4-BE49-F238E27FC236}">
                <a16:creationId xmlns:a16="http://schemas.microsoft.com/office/drawing/2014/main" id="{84FCAF51-86D1-2731-A21F-D76DA2B4B90D}"/>
              </a:ext>
            </a:extLst>
          </p:cNvPr>
          <p:cNvCxnSpPr>
            <a:cxnSpLocks/>
            <a:stCxn id="7" idx="0"/>
            <a:endCxn id="6" idx="2"/>
          </p:cNvCxnSpPr>
          <p:nvPr/>
        </p:nvCxnSpPr>
        <p:spPr>
          <a:xfrm flipH="1" flipV="1">
            <a:off x="4878324" y="3989070"/>
            <a:ext cx="4572" cy="582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B106C2F-354A-82F8-F06F-7EF9B75E4E12}"/>
              </a:ext>
            </a:extLst>
          </p:cNvPr>
          <p:cNvCxnSpPr>
            <a:cxnSpLocks/>
            <a:stCxn id="6" idx="0"/>
            <a:endCxn id="4" idx="2"/>
          </p:cNvCxnSpPr>
          <p:nvPr/>
        </p:nvCxnSpPr>
        <p:spPr>
          <a:xfrm flipH="1" flipV="1">
            <a:off x="4873752" y="2363724"/>
            <a:ext cx="4572" cy="505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586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A545-7558-9D80-898C-F0C20EC31905}"/>
              </a:ext>
            </a:extLst>
          </p:cNvPr>
          <p:cNvSpPr>
            <a:spLocks noGrp="1"/>
          </p:cNvSpPr>
          <p:nvPr>
            <p:ph type="title"/>
          </p:nvPr>
        </p:nvSpPr>
        <p:spPr>
          <a:xfrm>
            <a:off x="686478" y="582168"/>
            <a:ext cx="9115890" cy="3477768"/>
          </a:xfrm>
        </p:spPr>
        <p:txBody>
          <a:bodyPr>
            <a:normAutofit fontScale="90000"/>
          </a:bodyPr>
          <a:lstStyle/>
          <a:p>
            <a:r>
              <a:rPr lang="en-IN" sz="1800" b="1" dirty="0">
                <a:solidFill>
                  <a:schemeClr val="tx1"/>
                </a:solidFill>
                <a:latin typeface="+mn-lt"/>
                <a:ea typeface="+mn-ea"/>
                <a:cs typeface="+mn-cs"/>
              </a:rPr>
              <a:t>Interview Question on Git</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1. What is git/</a:t>
            </a:r>
            <a:r>
              <a:rPr lang="en-IN" sz="1800" b="1" dirty="0" err="1">
                <a:solidFill>
                  <a:schemeClr val="tx1"/>
                </a:solidFill>
                <a:latin typeface="+mn-lt"/>
                <a:ea typeface="+mn-ea"/>
                <a:cs typeface="+mn-cs"/>
              </a:rPr>
              <a:t>github</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2. what is your branching strategy :- We create our feature branch and done our changes and push the changes into the master branch.</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3. what is git rebase </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4. what is git webhooks </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5. what is source code</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6. what is Difference between continuous Deployment and Continuous Delivery.</a:t>
            </a:r>
            <a:br>
              <a:rPr lang="en-IN" sz="1800" b="1" dirty="0">
                <a:solidFill>
                  <a:schemeClr val="tx1"/>
                </a:solidFill>
                <a:latin typeface="+mn-lt"/>
                <a:ea typeface="+mn-ea"/>
                <a:cs typeface="+mn-cs"/>
              </a:rPr>
            </a:br>
            <a:br>
              <a:rPr lang="en-IN" sz="1800" b="1" dirty="0">
                <a:solidFill>
                  <a:schemeClr val="tx1"/>
                </a:solidFill>
                <a:latin typeface="+mn-lt"/>
                <a:ea typeface="+mn-ea"/>
                <a:cs typeface="+mn-cs"/>
              </a:rPr>
            </a:br>
            <a:r>
              <a:rPr lang="en-IN" sz="1800" b="1" dirty="0">
                <a:solidFill>
                  <a:schemeClr val="tx1"/>
                </a:solidFill>
                <a:latin typeface="+mn-lt"/>
                <a:ea typeface="+mn-ea"/>
                <a:cs typeface="+mn-cs"/>
              </a:rPr>
              <a:t>7. </a:t>
            </a:r>
            <a:br>
              <a:rPr lang="en-IN" sz="1800" b="1" dirty="0">
                <a:solidFill>
                  <a:schemeClr val="tx1"/>
                </a:solidFill>
                <a:latin typeface="+mn-lt"/>
                <a:ea typeface="+mn-ea"/>
                <a:cs typeface="+mn-cs"/>
              </a:rPr>
            </a:br>
            <a:endParaRPr lang="en-IN" sz="1800" b="1" dirty="0">
              <a:solidFill>
                <a:schemeClr val="tx1"/>
              </a:solidFill>
              <a:latin typeface="+mn-lt"/>
              <a:ea typeface="+mn-ea"/>
              <a:cs typeface="+mn-cs"/>
            </a:endParaRPr>
          </a:p>
        </p:txBody>
      </p:sp>
    </p:spTree>
    <p:extLst>
      <p:ext uri="{BB962C8B-B14F-4D97-AF65-F5344CB8AC3E}">
        <p14:creationId xmlns:p14="http://schemas.microsoft.com/office/powerpoint/2010/main" val="65902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40C95B-F2BE-E045-2F84-EA34960D6554}"/>
              </a:ext>
            </a:extLst>
          </p:cNvPr>
          <p:cNvSpPr txBox="1"/>
          <p:nvPr/>
        </p:nvSpPr>
        <p:spPr>
          <a:xfrm>
            <a:off x="3268980" y="487418"/>
            <a:ext cx="6926580" cy="369332"/>
          </a:xfrm>
          <a:prstGeom prst="rect">
            <a:avLst/>
          </a:prstGeom>
          <a:noFill/>
        </p:spPr>
        <p:txBody>
          <a:bodyPr wrap="square">
            <a:spAutoFit/>
          </a:bodyPr>
          <a:lstStyle/>
          <a:p>
            <a:r>
              <a:rPr lang="en-IN" b="1" dirty="0"/>
              <a:t>Application Package : .NET and Java : Code</a:t>
            </a:r>
          </a:p>
        </p:txBody>
      </p:sp>
      <p:sp>
        <p:nvSpPr>
          <p:cNvPr id="8" name="TextBox 7">
            <a:extLst>
              <a:ext uri="{FF2B5EF4-FFF2-40B4-BE49-F238E27FC236}">
                <a16:creationId xmlns:a16="http://schemas.microsoft.com/office/drawing/2014/main" id="{98D72F69-F434-88CC-4204-5F6815531C22}"/>
              </a:ext>
            </a:extLst>
          </p:cNvPr>
          <p:cNvSpPr txBox="1"/>
          <p:nvPr/>
        </p:nvSpPr>
        <p:spPr>
          <a:xfrm>
            <a:off x="864108" y="1397675"/>
            <a:ext cx="8069580" cy="5078313"/>
          </a:xfrm>
          <a:prstGeom prst="rect">
            <a:avLst/>
          </a:prstGeom>
          <a:noFill/>
        </p:spPr>
        <p:txBody>
          <a:bodyPr wrap="square">
            <a:spAutoFit/>
          </a:bodyPr>
          <a:lstStyle/>
          <a:p>
            <a:pPr>
              <a:buNone/>
            </a:pPr>
            <a:r>
              <a:rPr lang="en-IN" b="1" dirty="0"/>
              <a:t>Application Packaging (.NET &amp; Java)</a:t>
            </a:r>
          </a:p>
          <a:p>
            <a:pPr>
              <a:buNone/>
            </a:pPr>
            <a:br>
              <a:rPr lang="en-IN" b="1" dirty="0"/>
            </a:br>
            <a:r>
              <a:rPr lang="en-IN" b="1" dirty="0"/>
              <a:t>What is Application Packaging?</a:t>
            </a:r>
          </a:p>
          <a:p>
            <a:pPr>
              <a:buFont typeface="Arial" panose="020B0604020202020204" pitchFamily="34" charset="0"/>
              <a:buChar char="•"/>
            </a:pPr>
            <a:r>
              <a:rPr lang="en-IN" dirty="0"/>
              <a:t>Converting source code into a </a:t>
            </a:r>
            <a:r>
              <a:rPr lang="en-IN" b="1" dirty="0"/>
              <a:t>deployable format</a:t>
            </a:r>
            <a:endParaRPr lang="en-IN" dirty="0"/>
          </a:p>
          <a:p>
            <a:pPr>
              <a:buFont typeface="Arial" panose="020B0604020202020204" pitchFamily="34" charset="0"/>
              <a:buChar char="•"/>
            </a:pPr>
            <a:r>
              <a:rPr lang="en-IN" dirty="0"/>
              <a:t>Output = </a:t>
            </a:r>
            <a:r>
              <a:rPr lang="en-IN" b="1" dirty="0"/>
              <a:t>artifact</a:t>
            </a:r>
            <a:r>
              <a:rPr lang="en-IN" dirty="0"/>
              <a:t> </a:t>
            </a:r>
          </a:p>
          <a:p>
            <a:pPr>
              <a:buNone/>
            </a:pPr>
            <a:r>
              <a:rPr lang="en-IN" dirty="0"/>
              <a:t>👉 Examples:</a:t>
            </a:r>
          </a:p>
          <a:p>
            <a:pPr>
              <a:buFont typeface="Arial" panose="020B0604020202020204" pitchFamily="34" charset="0"/>
              <a:buChar char="•"/>
            </a:pPr>
            <a:r>
              <a:rPr lang="en-IN" dirty="0"/>
              <a:t>Java → </a:t>
            </a:r>
            <a:r>
              <a:rPr lang="en-IN" dirty="0">
                <a:latin typeface="Courier New" panose="02070309020205020404" pitchFamily="49" charset="0"/>
              </a:rPr>
              <a:t>.war</a:t>
            </a:r>
            <a:r>
              <a:rPr lang="en-IN" dirty="0"/>
              <a:t> </a:t>
            </a:r>
          </a:p>
          <a:p>
            <a:r>
              <a:rPr lang="en-IN" dirty="0"/>
              <a:t>.NET → </a:t>
            </a:r>
            <a:r>
              <a:rPr lang="en-IN" dirty="0">
                <a:latin typeface="Courier New" panose="02070309020205020404" pitchFamily="49" charset="0"/>
              </a:rPr>
              <a:t>.</a:t>
            </a:r>
            <a:r>
              <a:rPr lang="en-IN" dirty="0" err="1">
                <a:latin typeface="Courier New" panose="02070309020205020404" pitchFamily="49" charset="0"/>
              </a:rPr>
              <a:t>dll</a:t>
            </a:r>
            <a:r>
              <a:rPr lang="en-IN" dirty="0"/>
              <a:t>, </a:t>
            </a:r>
            <a:r>
              <a:rPr lang="en-IN" dirty="0">
                <a:latin typeface="Courier New" panose="02070309020205020404" pitchFamily="49" charset="0"/>
              </a:rPr>
              <a:t>.exe</a:t>
            </a:r>
            <a:br>
              <a:rPr lang="en-IN" dirty="0">
                <a:latin typeface="Courier New" panose="02070309020205020404" pitchFamily="49" charset="0"/>
              </a:rPr>
            </a:br>
            <a:br>
              <a:rPr lang="en-IN" dirty="0">
                <a:latin typeface="Courier New" panose="02070309020205020404" pitchFamily="49" charset="0"/>
              </a:rPr>
            </a:br>
            <a:r>
              <a:rPr lang="en-US" dirty="0"/>
              <a:t>In the build step, we compile the code and package it into a deployable file like a WAR</a:t>
            </a:r>
            <a:br>
              <a:rPr lang="en-IN" dirty="0">
                <a:latin typeface="Courier New" panose="02070309020205020404" pitchFamily="49" charset="0"/>
              </a:rPr>
            </a:br>
            <a:br>
              <a:rPr lang="en-IN" dirty="0">
                <a:latin typeface="Courier New" panose="02070309020205020404" pitchFamily="49" charset="0"/>
              </a:rPr>
            </a:br>
            <a:r>
              <a:rPr lang="en-US" b="1" dirty="0"/>
              <a:t>Why Packaging is Important :- </a:t>
            </a:r>
          </a:p>
          <a:p>
            <a:r>
              <a:rPr lang="en-US" dirty="0"/>
              <a:t>Ready for deployment  </a:t>
            </a:r>
          </a:p>
          <a:p>
            <a:r>
              <a:rPr lang="en-US" dirty="0"/>
              <a:t>Consistent builds </a:t>
            </a:r>
          </a:p>
          <a:p>
            <a:r>
              <a:rPr lang="en-US" dirty="0"/>
              <a:t>Easy to share </a:t>
            </a:r>
          </a:p>
          <a:p>
            <a:r>
              <a:rPr lang="en-US" dirty="0"/>
              <a:t>Used in CI/CD pipelines</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420493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501B3D-3F3F-DDB7-D53F-AB3CBA756A47}"/>
              </a:ext>
            </a:extLst>
          </p:cNvPr>
          <p:cNvSpPr txBox="1"/>
          <p:nvPr/>
        </p:nvSpPr>
        <p:spPr>
          <a:xfrm>
            <a:off x="973836" y="693712"/>
            <a:ext cx="7987284" cy="1200329"/>
          </a:xfrm>
          <a:prstGeom prst="rect">
            <a:avLst/>
          </a:prstGeom>
          <a:noFill/>
        </p:spPr>
        <p:txBody>
          <a:bodyPr wrap="square">
            <a:spAutoFit/>
          </a:bodyPr>
          <a:lstStyle/>
          <a:p>
            <a:pPr>
              <a:buNone/>
            </a:pPr>
            <a:r>
              <a:rPr lang="en-US" b="1" dirty="0"/>
              <a:t>Java Build Tools</a:t>
            </a:r>
          </a:p>
          <a:p>
            <a:pPr>
              <a:buFont typeface="Arial" panose="020B0604020202020204" pitchFamily="34" charset="0"/>
              <a:buChar char="•"/>
            </a:pPr>
            <a:r>
              <a:rPr lang="en-US" dirty="0"/>
              <a:t>Maven </a:t>
            </a:r>
          </a:p>
          <a:p>
            <a:pPr>
              <a:buFont typeface="Arial" panose="020B0604020202020204" pitchFamily="34" charset="0"/>
              <a:buChar char="•"/>
            </a:pPr>
            <a:r>
              <a:rPr lang="en-US" dirty="0"/>
              <a:t>Gradle </a:t>
            </a:r>
          </a:p>
          <a:p>
            <a:pPr>
              <a:buFont typeface="Arial" panose="020B0604020202020204" pitchFamily="34" charset="0"/>
              <a:buChar char="•"/>
            </a:pPr>
            <a:r>
              <a:rPr lang="en-US" dirty="0"/>
              <a:t>Most common: </a:t>
            </a:r>
            <a:r>
              <a:rPr lang="en-US" b="1" dirty="0"/>
              <a:t>Maven</a:t>
            </a:r>
            <a:endParaRPr lang="en-US" dirty="0"/>
          </a:p>
        </p:txBody>
      </p:sp>
      <p:sp>
        <p:nvSpPr>
          <p:cNvPr id="7" name="TextBox 6">
            <a:extLst>
              <a:ext uri="{FF2B5EF4-FFF2-40B4-BE49-F238E27FC236}">
                <a16:creationId xmlns:a16="http://schemas.microsoft.com/office/drawing/2014/main" id="{2D773E50-54CE-05EC-692A-EE95C315C889}"/>
              </a:ext>
            </a:extLst>
          </p:cNvPr>
          <p:cNvSpPr txBox="1"/>
          <p:nvPr/>
        </p:nvSpPr>
        <p:spPr>
          <a:xfrm>
            <a:off x="973836" y="2690336"/>
            <a:ext cx="7987284" cy="2585323"/>
          </a:xfrm>
          <a:prstGeom prst="rect">
            <a:avLst/>
          </a:prstGeom>
          <a:noFill/>
        </p:spPr>
        <p:txBody>
          <a:bodyPr wrap="square">
            <a:spAutoFit/>
          </a:bodyPr>
          <a:lstStyle/>
          <a:p>
            <a:r>
              <a:rPr lang="en-IN" dirty="0"/>
              <a:t>project/</a:t>
            </a:r>
          </a:p>
          <a:p>
            <a:r>
              <a:rPr lang="en-IN" dirty="0"/>
              <a:t> ├── </a:t>
            </a:r>
            <a:r>
              <a:rPr lang="en-IN" dirty="0" err="1"/>
              <a:t>src</a:t>
            </a:r>
            <a:r>
              <a:rPr lang="en-IN" dirty="0"/>
              <a:t>/</a:t>
            </a:r>
          </a:p>
          <a:p>
            <a:r>
              <a:rPr lang="en-IN" dirty="0"/>
              <a:t> │   ├── main/java</a:t>
            </a:r>
          </a:p>
          <a:p>
            <a:r>
              <a:rPr lang="en-IN" dirty="0"/>
              <a:t> │   └── test/java</a:t>
            </a:r>
          </a:p>
          <a:p>
            <a:r>
              <a:rPr lang="en-IN" dirty="0"/>
              <a:t> ├── pom.xml</a:t>
            </a:r>
            <a:br>
              <a:rPr lang="en-IN" dirty="0"/>
            </a:br>
            <a:br>
              <a:rPr lang="en-IN" dirty="0"/>
            </a:br>
            <a:r>
              <a:rPr lang="en-US" dirty="0"/>
              <a:t>pom.xml is the file that tells Maven how to build your project. Maven automatically downloads required libraries Controls how your app is built (WAR/JAR)</a:t>
            </a:r>
            <a:endParaRPr lang="en-IN" dirty="0"/>
          </a:p>
        </p:txBody>
      </p:sp>
      <p:sp>
        <p:nvSpPr>
          <p:cNvPr id="9" name="TextBox 8">
            <a:extLst>
              <a:ext uri="{FF2B5EF4-FFF2-40B4-BE49-F238E27FC236}">
                <a16:creationId xmlns:a16="http://schemas.microsoft.com/office/drawing/2014/main" id="{6E5CDFD5-540A-39E1-0A11-7DEE54B2A632}"/>
              </a:ext>
            </a:extLst>
          </p:cNvPr>
          <p:cNvSpPr txBox="1"/>
          <p:nvPr/>
        </p:nvSpPr>
        <p:spPr>
          <a:xfrm>
            <a:off x="973836" y="2107522"/>
            <a:ext cx="6099048" cy="369332"/>
          </a:xfrm>
          <a:prstGeom prst="rect">
            <a:avLst/>
          </a:prstGeom>
          <a:noFill/>
        </p:spPr>
        <p:txBody>
          <a:bodyPr wrap="square">
            <a:spAutoFit/>
          </a:bodyPr>
          <a:lstStyle/>
          <a:p>
            <a:r>
              <a:rPr lang="en-IN" dirty="0"/>
              <a:t>Maven Project Structure</a:t>
            </a:r>
          </a:p>
        </p:txBody>
      </p:sp>
      <p:sp>
        <p:nvSpPr>
          <p:cNvPr id="11" name="TextBox 10">
            <a:extLst>
              <a:ext uri="{FF2B5EF4-FFF2-40B4-BE49-F238E27FC236}">
                <a16:creationId xmlns:a16="http://schemas.microsoft.com/office/drawing/2014/main" id="{C6CEA3D0-D5CC-EC94-583D-91BF33B30405}"/>
              </a:ext>
            </a:extLst>
          </p:cNvPr>
          <p:cNvSpPr txBox="1"/>
          <p:nvPr/>
        </p:nvSpPr>
        <p:spPr>
          <a:xfrm>
            <a:off x="973836" y="4963960"/>
            <a:ext cx="8270748" cy="646331"/>
          </a:xfrm>
          <a:prstGeom prst="rect">
            <a:avLst/>
          </a:prstGeom>
          <a:noFill/>
        </p:spPr>
        <p:txBody>
          <a:bodyPr wrap="square">
            <a:spAutoFit/>
          </a:bodyPr>
          <a:lstStyle/>
          <a:p>
            <a:br>
              <a:rPr lang="en-US" dirty="0"/>
            </a:br>
            <a:r>
              <a:rPr lang="en-US" dirty="0"/>
              <a:t>Packaging = converting code into something we can run or deploy.”</a:t>
            </a:r>
            <a:endParaRPr lang="en-IN" dirty="0"/>
          </a:p>
        </p:txBody>
      </p:sp>
      <p:sp>
        <p:nvSpPr>
          <p:cNvPr id="13" name="TextBox 12">
            <a:extLst>
              <a:ext uri="{FF2B5EF4-FFF2-40B4-BE49-F238E27FC236}">
                <a16:creationId xmlns:a16="http://schemas.microsoft.com/office/drawing/2014/main" id="{5C8E664D-B99B-D8AA-9791-0C9D8C14EB77}"/>
              </a:ext>
            </a:extLst>
          </p:cNvPr>
          <p:cNvSpPr txBox="1"/>
          <p:nvPr/>
        </p:nvSpPr>
        <p:spPr>
          <a:xfrm>
            <a:off x="914400" y="5702622"/>
            <a:ext cx="8106156" cy="369332"/>
          </a:xfrm>
          <a:prstGeom prst="rect">
            <a:avLst/>
          </a:prstGeom>
          <a:noFill/>
        </p:spPr>
        <p:txBody>
          <a:bodyPr wrap="square">
            <a:spAutoFit/>
          </a:bodyPr>
          <a:lstStyle/>
          <a:p>
            <a:r>
              <a:rPr lang="en-US" dirty="0"/>
              <a:t> In DevOps, we don’t deploy source code — we deploy </a:t>
            </a:r>
            <a:r>
              <a:rPr lang="en-US" b="1" dirty="0"/>
              <a:t>artifacts</a:t>
            </a:r>
            <a:endParaRPr lang="en-IN" dirty="0"/>
          </a:p>
        </p:txBody>
      </p:sp>
    </p:spTree>
    <p:extLst>
      <p:ext uri="{BB962C8B-B14F-4D97-AF65-F5344CB8AC3E}">
        <p14:creationId xmlns:p14="http://schemas.microsoft.com/office/powerpoint/2010/main" val="140260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0FA7-BD78-71E7-F0AB-FC6DDAE2DE8A}"/>
              </a:ext>
            </a:extLst>
          </p:cNvPr>
          <p:cNvSpPr>
            <a:spLocks noGrp="1"/>
          </p:cNvSpPr>
          <p:nvPr>
            <p:ph type="title"/>
          </p:nvPr>
        </p:nvSpPr>
        <p:spPr>
          <a:xfrm>
            <a:off x="677334" y="609600"/>
            <a:ext cx="8596668" cy="2901696"/>
          </a:xfrm>
        </p:spPr>
        <p:txBody>
          <a:bodyPr>
            <a:normAutofit fontScale="90000"/>
          </a:bodyPr>
          <a:lstStyle/>
          <a:p>
            <a:r>
              <a:rPr lang="en-IN" sz="2400" dirty="0">
                <a:solidFill>
                  <a:schemeClr val="tx1"/>
                </a:solidFill>
              </a:rPr>
              <a:t>Interview question on Maven</a:t>
            </a:r>
            <a:br>
              <a:rPr lang="en-IN" sz="2400" dirty="0">
                <a:solidFill>
                  <a:schemeClr val="tx1"/>
                </a:solidFill>
              </a:rPr>
            </a:br>
            <a:br>
              <a:rPr lang="en-IN" sz="2400" dirty="0">
                <a:solidFill>
                  <a:schemeClr val="tx1"/>
                </a:solidFill>
              </a:rPr>
            </a:br>
            <a:r>
              <a:rPr lang="en-IN" sz="2400" dirty="0">
                <a:solidFill>
                  <a:schemeClr val="tx1"/>
                </a:solidFill>
              </a:rPr>
              <a:t>1. what is maven</a:t>
            </a:r>
            <a:br>
              <a:rPr lang="en-IN" sz="2400" dirty="0">
                <a:solidFill>
                  <a:schemeClr val="tx1"/>
                </a:solidFill>
              </a:rPr>
            </a:br>
            <a:br>
              <a:rPr lang="en-IN" sz="2400" dirty="0">
                <a:solidFill>
                  <a:schemeClr val="tx1"/>
                </a:solidFill>
              </a:rPr>
            </a:br>
            <a:r>
              <a:rPr lang="en-IN" sz="2400" dirty="0">
                <a:solidFill>
                  <a:schemeClr val="tx1"/>
                </a:solidFill>
              </a:rPr>
              <a:t>2. what is pom.xml :- Contains all the Dependency Configuration which is help to maven to build the application</a:t>
            </a:r>
            <a:br>
              <a:rPr lang="en-IN" sz="2400" dirty="0">
                <a:solidFill>
                  <a:schemeClr val="tx1"/>
                </a:solidFill>
              </a:rPr>
            </a:br>
            <a:br>
              <a:rPr lang="en-IN" sz="2400" dirty="0">
                <a:solidFill>
                  <a:schemeClr val="tx1"/>
                </a:solidFill>
              </a:rPr>
            </a:br>
            <a:r>
              <a:rPr lang="en-IN" sz="2400" dirty="0">
                <a:solidFill>
                  <a:schemeClr val="tx1"/>
                </a:solidFill>
              </a:rPr>
              <a:t>3. which Java build tool you are using :- Maven </a:t>
            </a:r>
            <a:br>
              <a:rPr lang="en-IN" sz="2400" dirty="0">
                <a:solidFill>
                  <a:schemeClr val="tx1"/>
                </a:solidFill>
              </a:rPr>
            </a:br>
            <a:br>
              <a:rPr lang="en-IN" sz="2400" dirty="0">
                <a:solidFill>
                  <a:schemeClr val="tx1"/>
                </a:solidFill>
              </a:rPr>
            </a:br>
            <a:r>
              <a:rPr lang="en-IN" sz="2400" dirty="0">
                <a:solidFill>
                  <a:schemeClr val="tx1"/>
                </a:solidFill>
              </a:rPr>
              <a:t>4. command use to build the application through Maven</a:t>
            </a:r>
            <a:br>
              <a:rPr lang="en-IN" sz="2400" dirty="0">
                <a:solidFill>
                  <a:schemeClr val="tx1"/>
                </a:solidFill>
              </a:rPr>
            </a:br>
            <a:r>
              <a:rPr lang="en-IN" sz="2400" dirty="0">
                <a:solidFill>
                  <a:schemeClr val="tx1"/>
                </a:solidFill>
              </a:rPr>
              <a:t>  </a:t>
            </a:r>
            <a:br>
              <a:rPr lang="en-IN" sz="2400" dirty="0">
                <a:solidFill>
                  <a:schemeClr val="tx1"/>
                </a:solidFill>
              </a:rPr>
            </a:br>
            <a:r>
              <a:rPr lang="en-IN" sz="2400" dirty="0">
                <a:solidFill>
                  <a:schemeClr val="tx1"/>
                </a:solidFill>
              </a:rPr>
              <a:t>  </a:t>
            </a:r>
            <a:r>
              <a:rPr lang="en-IN" sz="2400" dirty="0" err="1">
                <a:solidFill>
                  <a:schemeClr val="tx1"/>
                </a:solidFill>
              </a:rPr>
              <a:t>mvn</a:t>
            </a:r>
            <a:r>
              <a:rPr lang="en-IN" sz="2400" dirty="0">
                <a:solidFill>
                  <a:schemeClr val="tx1"/>
                </a:solidFill>
              </a:rPr>
              <a:t> clean</a:t>
            </a:r>
            <a:br>
              <a:rPr lang="en-IN" sz="2400" dirty="0">
                <a:solidFill>
                  <a:schemeClr val="tx1"/>
                </a:solidFill>
              </a:rPr>
            </a:br>
            <a:r>
              <a:rPr lang="en-IN" sz="2400" dirty="0">
                <a:solidFill>
                  <a:schemeClr val="tx1"/>
                </a:solidFill>
              </a:rPr>
              <a:t>  </a:t>
            </a:r>
            <a:r>
              <a:rPr lang="en-IN" sz="2400" dirty="0" err="1">
                <a:solidFill>
                  <a:schemeClr val="tx1"/>
                </a:solidFill>
              </a:rPr>
              <a:t>mvn</a:t>
            </a:r>
            <a:r>
              <a:rPr lang="en-IN" sz="2400" dirty="0">
                <a:solidFill>
                  <a:schemeClr val="tx1"/>
                </a:solidFill>
              </a:rPr>
              <a:t> build</a:t>
            </a:r>
            <a:br>
              <a:rPr lang="en-IN" sz="2400" dirty="0">
                <a:solidFill>
                  <a:schemeClr val="tx1"/>
                </a:solidFill>
              </a:rPr>
            </a:br>
            <a:r>
              <a:rPr lang="en-IN" sz="2400" dirty="0">
                <a:solidFill>
                  <a:schemeClr val="tx1"/>
                </a:solidFill>
              </a:rPr>
              <a:t>  </a:t>
            </a:r>
            <a:r>
              <a:rPr lang="en-IN" sz="2400" dirty="0" err="1">
                <a:solidFill>
                  <a:schemeClr val="tx1"/>
                </a:solidFill>
              </a:rPr>
              <a:t>mvn</a:t>
            </a:r>
            <a:r>
              <a:rPr lang="en-IN" sz="2400" dirty="0">
                <a:solidFill>
                  <a:schemeClr val="tx1"/>
                </a:solidFill>
              </a:rPr>
              <a:t> package </a:t>
            </a:r>
            <a:br>
              <a:rPr lang="en-IN" sz="2400" dirty="0">
                <a:solidFill>
                  <a:schemeClr val="tx1"/>
                </a:solidFill>
              </a:rPr>
            </a:br>
            <a:br>
              <a:rPr lang="en-IN" sz="2400" dirty="0">
                <a:solidFill>
                  <a:schemeClr val="tx1"/>
                </a:solidFill>
              </a:rPr>
            </a:br>
            <a:r>
              <a:rPr lang="en-IN" sz="2400" dirty="0">
                <a:solidFill>
                  <a:schemeClr val="tx1"/>
                </a:solidFill>
              </a:rPr>
              <a:t>5. </a:t>
            </a:r>
            <a:br>
              <a:rPr lang="en-IN" sz="2400" dirty="0">
                <a:solidFill>
                  <a:schemeClr val="tx1"/>
                </a:solidFill>
              </a:rPr>
            </a:br>
            <a:br>
              <a:rPr lang="en-IN" sz="2400" dirty="0">
                <a:solidFill>
                  <a:schemeClr val="tx1"/>
                </a:solidFill>
              </a:rPr>
            </a:br>
            <a:endParaRPr lang="en-IN" sz="2400" dirty="0">
              <a:solidFill>
                <a:schemeClr val="tx1"/>
              </a:solidFill>
            </a:endParaRPr>
          </a:p>
        </p:txBody>
      </p:sp>
    </p:spTree>
    <p:extLst>
      <p:ext uri="{BB962C8B-B14F-4D97-AF65-F5344CB8AC3E}">
        <p14:creationId xmlns:p14="http://schemas.microsoft.com/office/powerpoint/2010/main" val="1208670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3207A72-4BF8-9B02-FC4D-224E5B0BC904}"/>
              </a:ext>
            </a:extLst>
          </p:cNvPr>
          <p:cNvSpPr txBox="1"/>
          <p:nvPr/>
        </p:nvSpPr>
        <p:spPr>
          <a:xfrm>
            <a:off x="1074420" y="892201"/>
            <a:ext cx="8563356" cy="2862322"/>
          </a:xfrm>
          <a:prstGeom prst="rect">
            <a:avLst/>
          </a:prstGeom>
          <a:noFill/>
        </p:spPr>
        <p:txBody>
          <a:bodyPr wrap="square">
            <a:spAutoFit/>
          </a:bodyPr>
          <a:lstStyle/>
          <a:p>
            <a:pPr>
              <a:buNone/>
            </a:pPr>
            <a:r>
              <a:rPr lang="en-US" b="1" dirty="0"/>
              <a:t>What is CI/CD?</a:t>
            </a:r>
          </a:p>
          <a:p>
            <a:pPr>
              <a:buNone/>
            </a:pPr>
            <a:endParaRPr lang="en-US" b="1" dirty="0"/>
          </a:p>
          <a:p>
            <a:pPr>
              <a:buNone/>
            </a:pPr>
            <a:r>
              <a:rPr lang="en-US" b="1" dirty="0"/>
              <a:t>🔹 Continuous Integration (CI)</a:t>
            </a:r>
          </a:p>
          <a:p>
            <a:pPr>
              <a:buNone/>
            </a:pPr>
            <a:endParaRPr lang="en-US" b="1" dirty="0"/>
          </a:p>
          <a:p>
            <a:pPr>
              <a:buFont typeface="Arial" panose="020B0604020202020204" pitchFamily="34" charset="0"/>
              <a:buChar char="•"/>
            </a:pPr>
            <a:r>
              <a:rPr lang="en-US" dirty="0"/>
              <a:t>Developers push code frequently </a:t>
            </a:r>
          </a:p>
          <a:p>
            <a:pPr>
              <a:buFont typeface="Arial" panose="020B0604020202020204" pitchFamily="34" charset="0"/>
              <a:buChar char="•"/>
            </a:pPr>
            <a:r>
              <a:rPr lang="en-US" dirty="0"/>
              <a:t>Automatically build &amp; test </a:t>
            </a:r>
          </a:p>
          <a:p>
            <a:pPr>
              <a:buFont typeface="Arial" panose="020B0604020202020204" pitchFamily="34" charset="0"/>
              <a:buChar char="•"/>
            </a:pPr>
            <a:endParaRPr lang="en-US" dirty="0"/>
          </a:p>
          <a:p>
            <a:pPr>
              <a:buNone/>
            </a:pPr>
            <a:r>
              <a:rPr lang="en-US" b="1" dirty="0"/>
              <a:t>🔹 Continuous Deployment (CD)</a:t>
            </a:r>
          </a:p>
          <a:p>
            <a:pPr>
              <a:buNone/>
            </a:pPr>
            <a:endParaRPr lang="en-US" b="1" dirty="0"/>
          </a:p>
          <a:p>
            <a:pPr>
              <a:buFont typeface="Arial" panose="020B0604020202020204" pitchFamily="34" charset="0"/>
              <a:buChar char="•"/>
            </a:pPr>
            <a:r>
              <a:rPr lang="en-US" dirty="0"/>
              <a:t>Automatically deploy to server</a:t>
            </a:r>
          </a:p>
        </p:txBody>
      </p:sp>
      <p:sp>
        <p:nvSpPr>
          <p:cNvPr id="10" name="TextBox 9">
            <a:extLst>
              <a:ext uri="{FF2B5EF4-FFF2-40B4-BE49-F238E27FC236}">
                <a16:creationId xmlns:a16="http://schemas.microsoft.com/office/drawing/2014/main" id="{416B624F-E7D8-B76C-669D-B0E9AC124A0A}"/>
              </a:ext>
            </a:extLst>
          </p:cNvPr>
          <p:cNvSpPr txBox="1"/>
          <p:nvPr/>
        </p:nvSpPr>
        <p:spPr>
          <a:xfrm>
            <a:off x="2519172" y="377690"/>
            <a:ext cx="6099048" cy="369332"/>
          </a:xfrm>
          <a:prstGeom prst="rect">
            <a:avLst/>
          </a:prstGeom>
          <a:noFill/>
        </p:spPr>
        <p:txBody>
          <a:bodyPr wrap="square">
            <a:spAutoFit/>
          </a:bodyPr>
          <a:lstStyle/>
          <a:p>
            <a:r>
              <a:rPr lang="en-IN" dirty="0"/>
              <a:t>CICD : Continues Integration  and Continues Deployment </a:t>
            </a:r>
          </a:p>
        </p:txBody>
      </p:sp>
    </p:spTree>
    <p:extLst>
      <p:ext uri="{BB962C8B-B14F-4D97-AF65-F5344CB8AC3E}">
        <p14:creationId xmlns:p14="http://schemas.microsoft.com/office/powerpoint/2010/main" val="3436799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887694-6666-6DC0-7624-EAF2217722D1}"/>
              </a:ext>
            </a:extLst>
          </p:cNvPr>
          <p:cNvSpPr txBox="1"/>
          <p:nvPr/>
        </p:nvSpPr>
        <p:spPr>
          <a:xfrm>
            <a:off x="4543044" y="258818"/>
            <a:ext cx="6099048" cy="369332"/>
          </a:xfrm>
          <a:prstGeom prst="rect">
            <a:avLst/>
          </a:prstGeom>
          <a:noFill/>
        </p:spPr>
        <p:txBody>
          <a:bodyPr wrap="square">
            <a:spAutoFit/>
          </a:bodyPr>
          <a:lstStyle/>
          <a:p>
            <a:r>
              <a:rPr lang="en-IN" dirty="0"/>
              <a:t>CI/CD : Flow Jenkins</a:t>
            </a:r>
          </a:p>
        </p:txBody>
      </p:sp>
      <p:sp>
        <p:nvSpPr>
          <p:cNvPr id="5" name="Rectangle 4">
            <a:extLst>
              <a:ext uri="{FF2B5EF4-FFF2-40B4-BE49-F238E27FC236}">
                <a16:creationId xmlns:a16="http://schemas.microsoft.com/office/drawing/2014/main" id="{ECD8615C-A482-7865-AFD4-970E97B9E3AE}"/>
              </a:ext>
            </a:extLst>
          </p:cNvPr>
          <p:cNvSpPr/>
          <p:nvPr/>
        </p:nvSpPr>
        <p:spPr>
          <a:xfrm>
            <a:off x="73152" y="1929384"/>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Git checkout  </a:t>
            </a:r>
          </a:p>
        </p:txBody>
      </p:sp>
      <p:sp>
        <p:nvSpPr>
          <p:cNvPr id="6" name="Rectangle 5">
            <a:extLst>
              <a:ext uri="{FF2B5EF4-FFF2-40B4-BE49-F238E27FC236}">
                <a16:creationId xmlns:a16="http://schemas.microsoft.com/office/drawing/2014/main" id="{F7A00CD2-5619-CAE2-88BB-D5DAE2958350}"/>
              </a:ext>
            </a:extLst>
          </p:cNvPr>
          <p:cNvSpPr/>
          <p:nvPr/>
        </p:nvSpPr>
        <p:spPr>
          <a:xfrm>
            <a:off x="5471160" y="1847088"/>
            <a:ext cx="1825752" cy="10149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Build Images/Deployment container</a:t>
            </a:r>
          </a:p>
        </p:txBody>
      </p:sp>
      <p:sp>
        <p:nvSpPr>
          <p:cNvPr id="7" name="Rectangle 6">
            <a:extLst>
              <a:ext uri="{FF2B5EF4-FFF2-40B4-BE49-F238E27FC236}">
                <a16:creationId xmlns:a16="http://schemas.microsoft.com/office/drawing/2014/main" id="{532F713E-C12C-5202-2362-61FCD72D9A59}"/>
              </a:ext>
            </a:extLst>
          </p:cNvPr>
          <p:cNvSpPr/>
          <p:nvPr/>
        </p:nvSpPr>
        <p:spPr>
          <a:xfrm>
            <a:off x="3371088" y="1918715"/>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Build Application</a:t>
            </a:r>
          </a:p>
        </p:txBody>
      </p:sp>
      <p:sp>
        <p:nvSpPr>
          <p:cNvPr id="8" name="Rectangle 7">
            <a:extLst>
              <a:ext uri="{FF2B5EF4-FFF2-40B4-BE49-F238E27FC236}">
                <a16:creationId xmlns:a16="http://schemas.microsoft.com/office/drawing/2014/main" id="{6AC5B90B-7EC0-67F7-E139-032F31F1AF61}"/>
              </a:ext>
            </a:extLst>
          </p:cNvPr>
          <p:cNvSpPr/>
          <p:nvPr/>
        </p:nvSpPr>
        <p:spPr>
          <a:xfrm>
            <a:off x="5471160" y="4102608"/>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Prometheus</a:t>
            </a:r>
          </a:p>
        </p:txBody>
      </p:sp>
      <p:sp>
        <p:nvSpPr>
          <p:cNvPr id="9" name="Rectangle 8">
            <a:extLst>
              <a:ext uri="{FF2B5EF4-FFF2-40B4-BE49-F238E27FC236}">
                <a16:creationId xmlns:a16="http://schemas.microsoft.com/office/drawing/2014/main" id="{80ABA326-5F47-6872-F200-962549D6DD6D}"/>
              </a:ext>
            </a:extLst>
          </p:cNvPr>
          <p:cNvSpPr/>
          <p:nvPr/>
        </p:nvSpPr>
        <p:spPr>
          <a:xfrm>
            <a:off x="2997708" y="4102608"/>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Grafana</a:t>
            </a:r>
          </a:p>
        </p:txBody>
      </p:sp>
      <p:sp>
        <p:nvSpPr>
          <p:cNvPr id="10" name="Rectangle 9">
            <a:extLst>
              <a:ext uri="{FF2B5EF4-FFF2-40B4-BE49-F238E27FC236}">
                <a16:creationId xmlns:a16="http://schemas.microsoft.com/office/drawing/2014/main" id="{CC3CCCC2-8D72-7573-11EB-907B1C2E6AE9}"/>
              </a:ext>
            </a:extLst>
          </p:cNvPr>
          <p:cNvSpPr/>
          <p:nvPr/>
        </p:nvSpPr>
        <p:spPr>
          <a:xfrm>
            <a:off x="7665720" y="1816607"/>
            <a:ext cx="1545336" cy="10728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Push image to the Container registry </a:t>
            </a:r>
          </a:p>
        </p:txBody>
      </p:sp>
      <p:sp>
        <p:nvSpPr>
          <p:cNvPr id="11" name="Rectangle 10">
            <a:extLst>
              <a:ext uri="{FF2B5EF4-FFF2-40B4-BE49-F238E27FC236}">
                <a16:creationId xmlns:a16="http://schemas.microsoft.com/office/drawing/2014/main" id="{813F4688-36A6-17B3-6603-C345B7FD7DAE}"/>
              </a:ext>
            </a:extLst>
          </p:cNvPr>
          <p:cNvSpPr/>
          <p:nvPr/>
        </p:nvSpPr>
        <p:spPr>
          <a:xfrm>
            <a:off x="7667244" y="4087369"/>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Deploying to the K8</a:t>
            </a:r>
          </a:p>
        </p:txBody>
      </p:sp>
      <p:cxnSp>
        <p:nvCxnSpPr>
          <p:cNvPr id="16" name="Straight Arrow Connector 15">
            <a:extLst>
              <a:ext uri="{FF2B5EF4-FFF2-40B4-BE49-F238E27FC236}">
                <a16:creationId xmlns:a16="http://schemas.microsoft.com/office/drawing/2014/main" id="{6C7A9A09-7499-50B5-B0CD-D68D5658D664}"/>
              </a:ext>
            </a:extLst>
          </p:cNvPr>
          <p:cNvCxnSpPr>
            <a:cxnSpLocks/>
            <a:stCxn id="7" idx="3"/>
            <a:endCxn id="6" idx="1"/>
          </p:cNvCxnSpPr>
          <p:nvPr/>
        </p:nvCxnSpPr>
        <p:spPr>
          <a:xfrm>
            <a:off x="4916424" y="2353055"/>
            <a:ext cx="554736" cy="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69F1F20-7649-024B-1645-AB13D1AEE486}"/>
              </a:ext>
            </a:extLst>
          </p:cNvPr>
          <p:cNvCxnSpPr>
            <a:cxnSpLocks/>
            <a:stCxn id="6" idx="3"/>
            <a:endCxn id="10" idx="1"/>
          </p:cNvCxnSpPr>
          <p:nvPr/>
        </p:nvCxnSpPr>
        <p:spPr>
          <a:xfrm flipV="1">
            <a:off x="7296912" y="2353056"/>
            <a:ext cx="368808" cy="1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8A41A3C-3C37-A1EE-B43C-7EBD881FD482}"/>
              </a:ext>
            </a:extLst>
          </p:cNvPr>
          <p:cNvCxnSpPr>
            <a:cxnSpLocks/>
            <a:stCxn id="10" idx="2"/>
            <a:endCxn id="11" idx="0"/>
          </p:cNvCxnSpPr>
          <p:nvPr/>
        </p:nvCxnSpPr>
        <p:spPr>
          <a:xfrm>
            <a:off x="8438388" y="2889504"/>
            <a:ext cx="1524" cy="11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E7E4ADF-271D-EEBB-6EE2-58680B3594B2}"/>
              </a:ext>
            </a:extLst>
          </p:cNvPr>
          <p:cNvSpPr txBox="1"/>
          <p:nvPr/>
        </p:nvSpPr>
        <p:spPr>
          <a:xfrm>
            <a:off x="9354312" y="4087369"/>
            <a:ext cx="1783080" cy="1477328"/>
          </a:xfrm>
          <a:prstGeom prst="rect">
            <a:avLst/>
          </a:prstGeom>
          <a:noFill/>
        </p:spPr>
        <p:txBody>
          <a:bodyPr wrap="square" rtlCol="0">
            <a:spAutoFit/>
          </a:bodyPr>
          <a:lstStyle/>
          <a:p>
            <a:r>
              <a:rPr lang="en-IN" dirty="0"/>
              <a:t>K8 Pull the latest image from the Container registry </a:t>
            </a:r>
          </a:p>
        </p:txBody>
      </p:sp>
      <p:cxnSp>
        <p:nvCxnSpPr>
          <p:cNvPr id="25" name="Straight Arrow Connector 24">
            <a:extLst>
              <a:ext uri="{FF2B5EF4-FFF2-40B4-BE49-F238E27FC236}">
                <a16:creationId xmlns:a16="http://schemas.microsoft.com/office/drawing/2014/main" id="{261D3FEA-83F2-5F77-CC69-E9ABBCFC9801}"/>
              </a:ext>
            </a:extLst>
          </p:cNvPr>
          <p:cNvCxnSpPr>
            <a:stCxn id="11" idx="1"/>
            <a:endCxn id="8" idx="3"/>
          </p:cNvCxnSpPr>
          <p:nvPr/>
        </p:nvCxnSpPr>
        <p:spPr>
          <a:xfrm flipH="1">
            <a:off x="7016496" y="4521709"/>
            <a:ext cx="650748" cy="1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6CCD167-270E-905C-09BD-048E248F0756}"/>
              </a:ext>
            </a:extLst>
          </p:cNvPr>
          <p:cNvCxnSpPr>
            <a:stCxn id="8" idx="1"/>
            <a:endCxn id="9" idx="3"/>
          </p:cNvCxnSpPr>
          <p:nvPr/>
        </p:nvCxnSpPr>
        <p:spPr>
          <a:xfrm flipH="1">
            <a:off x="4543044" y="4536948"/>
            <a:ext cx="9281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4EEEE9C5-6FFB-363A-3668-5BA8B626F083}"/>
              </a:ext>
            </a:extLst>
          </p:cNvPr>
          <p:cNvSpPr/>
          <p:nvPr/>
        </p:nvSpPr>
        <p:spPr>
          <a:xfrm>
            <a:off x="1025652" y="4102608"/>
            <a:ext cx="1545336" cy="8686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Alert Manager</a:t>
            </a:r>
          </a:p>
        </p:txBody>
      </p:sp>
      <p:cxnSp>
        <p:nvCxnSpPr>
          <p:cNvPr id="34" name="Straight Arrow Connector 33">
            <a:extLst>
              <a:ext uri="{FF2B5EF4-FFF2-40B4-BE49-F238E27FC236}">
                <a16:creationId xmlns:a16="http://schemas.microsoft.com/office/drawing/2014/main" id="{AED7FF6D-882E-6396-E5EA-C14F489A1CCA}"/>
              </a:ext>
            </a:extLst>
          </p:cNvPr>
          <p:cNvCxnSpPr>
            <a:stCxn id="9" idx="1"/>
            <a:endCxn id="32" idx="3"/>
          </p:cNvCxnSpPr>
          <p:nvPr/>
        </p:nvCxnSpPr>
        <p:spPr>
          <a:xfrm flipH="1">
            <a:off x="2570988" y="4536948"/>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CBA93320-02F8-AB82-4B03-555D4D81F926}"/>
              </a:ext>
            </a:extLst>
          </p:cNvPr>
          <p:cNvSpPr/>
          <p:nvPr/>
        </p:nvSpPr>
        <p:spPr>
          <a:xfrm>
            <a:off x="1825752" y="1943100"/>
            <a:ext cx="1338072" cy="8260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SonarQube</a:t>
            </a:r>
          </a:p>
        </p:txBody>
      </p:sp>
      <p:cxnSp>
        <p:nvCxnSpPr>
          <p:cNvPr id="44" name="Straight Arrow Connector 43">
            <a:extLst>
              <a:ext uri="{FF2B5EF4-FFF2-40B4-BE49-F238E27FC236}">
                <a16:creationId xmlns:a16="http://schemas.microsoft.com/office/drawing/2014/main" id="{71802F67-8562-DA70-7355-EEEBB5DD9773}"/>
              </a:ext>
            </a:extLst>
          </p:cNvPr>
          <p:cNvCxnSpPr>
            <a:stCxn id="5" idx="3"/>
            <a:endCxn id="42" idx="1"/>
          </p:cNvCxnSpPr>
          <p:nvPr/>
        </p:nvCxnSpPr>
        <p:spPr>
          <a:xfrm flipV="1">
            <a:off x="1618488" y="2356104"/>
            <a:ext cx="207264" cy="7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531C1D-64B7-5B83-DED8-2A920CE722FB}"/>
              </a:ext>
            </a:extLst>
          </p:cNvPr>
          <p:cNvCxnSpPr>
            <a:stCxn id="42" idx="3"/>
            <a:endCxn id="7" idx="1"/>
          </p:cNvCxnSpPr>
          <p:nvPr/>
        </p:nvCxnSpPr>
        <p:spPr>
          <a:xfrm flipV="1">
            <a:off x="3163824" y="2353055"/>
            <a:ext cx="207264" cy="3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6478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3574A-8D59-4B30-EBB9-356A0709CB8E}"/>
              </a:ext>
            </a:extLst>
          </p:cNvPr>
          <p:cNvSpPr>
            <a:spLocks noGrp="1"/>
          </p:cNvSpPr>
          <p:nvPr>
            <p:ph idx="1"/>
          </p:nvPr>
        </p:nvSpPr>
        <p:spPr>
          <a:xfrm>
            <a:off x="659046" y="926149"/>
            <a:ext cx="8596668" cy="3880773"/>
          </a:xfrm>
        </p:spPr>
        <p:txBody>
          <a:bodyPr/>
          <a:lstStyle/>
          <a:p>
            <a:r>
              <a:rPr lang="en-IN" dirty="0"/>
              <a:t>Interview Question on CICD :- </a:t>
            </a:r>
            <a:br>
              <a:rPr lang="en-IN" dirty="0"/>
            </a:br>
            <a:br>
              <a:rPr lang="en-IN" dirty="0"/>
            </a:br>
            <a:r>
              <a:rPr lang="en-IN" dirty="0"/>
              <a:t>1. what is your  CI/CD Flow :-</a:t>
            </a:r>
            <a:br>
              <a:rPr lang="en-IN" dirty="0"/>
            </a:br>
            <a:br>
              <a:rPr lang="en-IN" dirty="0"/>
            </a:br>
            <a:r>
              <a:rPr lang="en-IN" dirty="0"/>
              <a:t>2. In which step you have integrated your test cases as well. :- the tool which we used is SonarQube and its integrated before our build application.</a:t>
            </a:r>
          </a:p>
        </p:txBody>
      </p:sp>
    </p:spTree>
    <p:extLst>
      <p:ext uri="{BB962C8B-B14F-4D97-AF65-F5344CB8AC3E}">
        <p14:creationId xmlns:p14="http://schemas.microsoft.com/office/powerpoint/2010/main" val="3858704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80622F-BC0E-4490-3A93-0C111303019A}"/>
              </a:ext>
            </a:extLst>
          </p:cNvPr>
          <p:cNvSpPr txBox="1"/>
          <p:nvPr/>
        </p:nvSpPr>
        <p:spPr>
          <a:xfrm>
            <a:off x="571500" y="510707"/>
            <a:ext cx="8069580" cy="3016210"/>
          </a:xfrm>
          <a:prstGeom prst="rect">
            <a:avLst/>
          </a:prstGeom>
          <a:noFill/>
        </p:spPr>
        <p:txBody>
          <a:bodyPr wrap="square">
            <a:spAutoFit/>
          </a:bodyPr>
          <a:lstStyle/>
          <a:p>
            <a:r>
              <a:rPr lang="en-IN" b="1" dirty="0"/>
              <a:t>                                                                    </a:t>
            </a:r>
            <a:r>
              <a:rPr lang="en-IN" sz="2800" b="1" dirty="0"/>
              <a:t>Jenkins</a:t>
            </a:r>
            <a:br>
              <a:rPr lang="en-IN" b="1" dirty="0"/>
            </a:br>
            <a:br>
              <a:rPr lang="en-IN" b="1" dirty="0"/>
            </a:br>
            <a:r>
              <a:rPr lang="en-US" b="1" dirty="0"/>
              <a:t>What is Jenkins?</a:t>
            </a:r>
          </a:p>
          <a:p>
            <a:r>
              <a:rPr lang="en-US" dirty="0"/>
              <a:t>Jenkins is an </a:t>
            </a:r>
            <a:r>
              <a:rPr lang="en-US" b="1" dirty="0"/>
              <a:t>automation server</a:t>
            </a:r>
            <a:r>
              <a:rPr lang="en-US" dirty="0"/>
              <a:t> used to:</a:t>
            </a:r>
          </a:p>
          <a:p>
            <a:r>
              <a:rPr lang="en-US" dirty="0"/>
              <a:t>Build applications </a:t>
            </a:r>
          </a:p>
          <a:p>
            <a:r>
              <a:rPr lang="en-US" dirty="0"/>
              <a:t>Run tests </a:t>
            </a:r>
          </a:p>
          <a:p>
            <a:r>
              <a:rPr lang="en-US" dirty="0"/>
              <a:t>Deploy applications </a:t>
            </a:r>
          </a:p>
          <a:p>
            <a:r>
              <a:rPr lang="en-US" dirty="0"/>
              <a:t>👉 In short:</a:t>
            </a:r>
            <a:br>
              <a:rPr lang="en-US" dirty="0"/>
            </a:br>
            <a:r>
              <a:rPr lang="en-US" b="1" dirty="0"/>
              <a:t>“Jenkins automates the DevOps pipeline.</a:t>
            </a:r>
            <a:endParaRPr lang="en-US" dirty="0"/>
          </a:p>
          <a:p>
            <a:pPr>
              <a:buNone/>
            </a:pPr>
            <a:endParaRPr lang="en-IN" dirty="0"/>
          </a:p>
        </p:txBody>
      </p:sp>
      <p:sp>
        <p:nvSpPr>
          <p:cNvPr id="6" name="TextBox 5">
            <a:extLst>
              <a:ext uri="{FF2B5EF4-FFF2-40B4-BE49-F238E27FC236}">
                <a16:creationId xmlns:a16="http://schemas.microsoft.com/office/drawing/2014/main" id="{B746817A-55C5-1998-0F8D-17138958925D}"/>
              </a:ext>
            </a:extLst>
          </p:cNvPr>
          <p:cNvSpPr txBox="1"/>
          <p:nvPr/>
        </p:nvSpPr>
        <p:spPr>
          <a:xfrm>
            <a:off x="571500" y="3206972"/>
            <a:ext cx="7210044" cy="1754326"/>
          </a:xfrm>
          <a:prstGeom prst="rect">
            <a:avLst/>
          </a:prstGeom>
          <a:noFill/>
        </p:spPr>
        <p:txBody>
          <a:bodyPr wrap="square">
            <a:spAutoFit/>
          </a:bodyPr>
          <a:lstStyle/>
          <a:p>
            <a:pPr>
              <a:buNone/>
            </a:pPr>
            <a:br>
              <a:rPr lang="en-US" b="1" dirty="0"/>
            </a:br>
            <a:r>
              <a:rPr lang="en-US" b="1" dirty="0"/>
              <a:t>Why Jenkins?</a:t>
            </a:r>
          </a:p>
          <a:p>
            <a:pPr>
              <a:buFont typeface="Arial" panose="020B0604020202020204" pitchFamily="34" charset="0"/>
              <a:buChar char="•"/>
            </a:pPr>
            <a:r>
              <a:rPr lang="en-US" dirty="0"/>
              <a:t>Automates repetitive tasks  </a:t>
            </a:r>
          </a:p>
          <a:p>
            <a:pPr>
              <a:buFont typeface="Arial" panose="020B0604020202020204" pitchFamily="34" charset="0"/>
              <a:buChar char="•"/>
            </a:pPr>
            <a:r>
              <a:rPr lang="en-US" dirty="0"/>
              <a:t>Faster delivery </a:t>
            </a:r>
          </a:p>
          <a:p>
            <a:pPr>
              <a:buFont typeface="Arial" panose="020B0604020202020204" pitchFamily="34" charset="0"/>
              <a:buChar char="•"/>
            </a:pPr>
            <a:r>
              <a:rPr lang="en-US" dirty="0"/>
              <a:t>Reduces manual errors </a:t>
            </a:r>
          </a:p>
          <a:p>
            <a:pPr>
              <a:buFont typeface="Arial" panose="020B0604020202020204" pitchFamily="34" charset="0"/>
              <a:buChar char="•"/>
            </a:pPr>
            <a:r>
              <a:rPr lang="en-US" dirty="0"/>
              <a:t>Continuous Integration &amp; Deployment</a:t>
            </a:r>
          </a:p>
        </p:txBody>
      </p:sp>
    </p:spTree>
    <p:extLst>
      <p:ext uri="{BB962C8B-B14F-4D97-AF65-F5344CB8AC3E}">
        <p14:creationId xmlns:p14="http://schemas.microsoft.com/office/powerpoint/2010/main" val="4156702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2185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1698</TotalTime>
  <Words>787</Words>
  <Application>Microsoft Office PowerPoint</Application>
  <PresentationFormat>Widescreen</PresentationFormat>
  <Paragraphs>108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Courier New</vt:lpstr>
      <vt:lpstr>Trebuchet MS</vt:lpstr>
      <vt:lpstr>Wingdings 3</vt:lpstr>
      <vt:lpstr>Facet</vt:lpstr>
      <vt:lpstr>PowerPoint Presentation</vt:lpstr>
      <vt:lpstr>PowerPoint Presentation</vt:lpstr>
      <vt:lpstr>PowerPoint Presentation</vt:lpstr>
      <vt:lpstr>PowerPoint Presentation</vt:lpstr>
      <vt:lpstr>Branching strategy </vt:lpstr>
      <vt:lpstr>Interview Question on Git  1. What is git/github  2. what is your branching strategy :- We create our feature branch and done our changes and push the changes into the master branch.  3. what is git rebase   4. what is git webhooks   5. what is source code  6. what is Difference between continuous Deployment and Continuous Delivery.  7.  </vt:lpstr>
      <vt:lpstr>PowerPoint Presentation</vt:lpstr>
      <vt:lpstr>PowerPoint Presentation</vt:lpstr>
      <vt:lpstr>Interview question on Maven  1. what is maven  2. what is pom.xml :- Contains all the Dependency Configuration which is help to maven to build the application  3. which Java build tool you are using :- Maven   4. command use to build the application through Maven      mvn clean   mvn build   mvn package   5.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Tarun chaudhary</dc:creator>
  <cp:lastModifiedBy>Tarun Kumar</cp:lastModifiedBy>
  <cp:revision>22</cp:revision>
  <dcterms:created xsi:type="dcterms:W3CDTF">2026-03-22T07:01:13Z</dcterms:created>
  <dcterms:modified xsi:type="dcterms:W3CDTF">2026-03-29T07:36:23Z</dcterms:modified>
</cp:coreProperties>
</file>